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Roboto"/>
      <p:regular r:id="rId18"/>
      <p:bold r:id="rId19"/>
      <p:italic r:id="rId20"/>
      <p:boldItalic r:id="rId21"/>
    </p:embeddedFont>
    <p:embeddedFont>
      <p:font typeface="Alice"/>
      <p:regular r:id="rId22"/>
    </p:embeddedFont>
    <p:embeddedFont>
      <p:font typeface="Roboto Mono"/>
      <p:regular r:id="rId23"/>
      <p:bold r:id="rId24"/>
      <p:italic r:id="rId25"/>
      <p:boldItalic r:id="rId26"/>
    </p:embeddedFont>
    <p:embeddedFont>
      <p:font typeface="Noto Sans HK"/>
      <p:regular r:id="rId27"/>
      <p:bold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italic.fntdata"/><Relationship Id="rId22" Type="http://schemas.openxmlformats.org/officeDocument/2006/relationships/font" Target="fonts/Alice-regular.fntdata"/><Relationship Id="rId21" Type="http://schemas.openxmlformats.org/officeDocument/2006/relationships/font" Target="fonts/Roboto-boldItalic.fntdata"/><Relationship Id="rId24" Type="http://schemas.openxmlformats.org/officeDocument/2006/relationships/font" Target="fonts/RobotoMono-bold.fntdata"/><Relationship Id="rId23" Type="http://schemas.openxmlformats.org/officeDocument/2006/relationships/font" Target="fonts/RobotoMon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boldItalic.fntdata"/><Relationship Id="rId25" Type="http://schemas.openxmlformats.org/officeDocument/2006/relationships/font" Target="fonts/RobotoMono-italic.fntdata"/><Relationship Id="rId28" Type="http://schemas.openxmlformats.org/officeDocument/2006/relationships/font" Target="fonts/NotoSansHK-bold.fntdata"/><Relationship Id="rId27" Type="http://schemas.openxmlformats.org/officeDocument/2006/relationships/font" Target="fonts/NotoSansHK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Roboto-bold.fntdata"/><Relationship Id="rId18" Type="http://schemas.openxmlformats.org/officeDocument/2006/relationships/font" Target="fonts/Roboto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61e55692f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f61e55692f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61e55692f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61e55692f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f61e55692f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f61e55692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61e55692f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f61e55692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f61e55692f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f61e55692f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f61e55692f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f61e55692f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f61e55692f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f61e55692f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f61e55692f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f61e55692f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f62d1a010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f62d1a010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f61e55692f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f61e55692f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f61e55692f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f61e55692f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9.png"/><Relationship Id="rId7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jpg"/><Relationship Id="rId4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4" name="Google Shape;5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581174" y="3362399"/>
            <a:ext cx="3261000" cy="13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437066"/>
              </a:buClr>
              <a:buSzPts val="850"/>
              <a:buFont typeface="Noto Sans HK"/>
              <a:buNone/>
            </a:pPr>
            <a:r>
              <a:rPr i="0" lang="en-GB" sz="950" u="none" cap="none" strike="noStrike">
                <a:solidFill>
                  <a:srgbClr val="437066"/>
                </a:solidFill>
              </a:rPr>
              <a:t>MILESTONE 1: DOMAIN FINALIZATION &amp; FOUNDATION</a:t>
            </a:r>
            <a:endParaRPr i="0" sz="950" u="none" cap="none" strike="noStrike">
              <a:solidFill>
                <a:srgbClr val="000000"/>
              </a:solidFill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496119" y="2706812"/>
            <a:ext cx="47229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00"/>
              <a:buFont typeface="Noto Sans HK"/>
              <a:buNone/>
            </a:pPr>
            <a:r>
              <a:rPr i="0" lang="en-GB" sz="1200" u="none" cap="none" strike="noStrike">
                <a:solidFill>
                  <a:srgbClr val="2C3249"/>
                </a:solidFill>
              </a:rPr>
              <a:t>Sensing India's seasonal pulse: from monument footfall to festival demand</a:t>
            </a:r>
            <a:endParaRPr i="0" sz="1200" u="none" cap="none" strike="noStrike">
              <a:solidFill>
                <a:srgbClr val="000000"/>
              </a:solidFill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496119" y="1608237"/>
            <a:ext cx="47229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2750"/>
              <a:buFont typeface="Alice"/>
              <a:buNone/>
            </a:pPr>
            <a:r>
              <a:rPr i="0" lang="en-GB" sz="2750" u="none" cap="none" strike="noStrike">
                <a:solidFill>
                  <a:srgbClr val="272D4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Urban Pulse - Tourism &amp; Culture Intelligence Platform</a:t>
            </a:r>
            <a:endParaRPr i="0" sz="27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" name="Google Shape;58;p13"/>
          <p:cNvSpPr/>
          <p:nvPr/>
        </p:nvSpPr>
        <p:spPr>
          <a:xfrm>
            <a:off x="496119" y="3637062"/>
            <a:ext cx="47229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2750"/>
              <a:buFont typeface="Alice"/>
              <a:buNone/>
            </a:pPr>
            <a:r>
              <a:rPr lang="en-GB" sz="1750">
                <a:solidFill>
                  <a:srgbClr val="272D4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- 1</a:t>
            </a:r>
            <a:br>
              <a:rPr lang="en-GB" sz="1750">
                <a:solidFill>
                  <a:srgbClr val="272D45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GB" sz="1150">
                <a:solidFill>
                  <a:srgbClr val="272D45"/>
                </a:solidFill>
              </a:rPr>
              <a:t>Padma Priya</a:t>
            </a:r>
            <a:br>
              <a:rPr lang="en-GB" sz="1150">
                <a:solidFill>
                  <a:srgbClr val="272D45"/>
                </a:solidFill>
              </a:rPr>
            </a:br>
            <a:r>
              <a:rPr lang="en-GB" sz="1150">
                <a:solidFill>
                  <a:srgbClr val="272D45"/>
                </a:solidFill>
              </a:rPr>
              <a:t>Aditi Dhuria</a:t>
            </a:r>
            <a:br>
              <a:rPr lang="en-GB" sz="1150">
                <a:solidFill>
                  <a:srgbClr val="272D45"/>
                </a:solidFill>
              </a:rPr>
            </a:br>
            <a:r>
              <a:rPr lang="en-GB" sz="1150">
                <a:solidFill>
                  <a:srgbClr val="272D45"/>
                </a:solidFill>
              </a:rPr>
              <a:t>Madhusri Gone</a:t>
            </a:r>
            <a:endParaRPr i="0" sz="15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496119" y="746671"/>
            <a:ext cx="47229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2750"/>
              <a:buFont typeface="Alice"/>
              <a:buNone/>
            </a:pPr>
            <a:r>
              <a:rPr i="0" lang="en-GB" sz="2950" u="none" cap="none" strike="noStrike">
                <a:solidFill>
                  <a:srgbClr val="272D4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i="0" sz="29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496119" y="1402259"/>
            <a:ext cx="4722900" cy="15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00"/>
              <a:buFont typeface="Noto Sans HK"/>
              <a:buNone/>
            </a:pPr>
            <a:r>
              <a:rPr i="0" lang="en-GB" sz="1200" u="none" cap="none" strike="noStrike">
                <a:solidFill>
                  <a:srgbClr val="2C3249"/>
                </a:solidFill>
              </a:rPr>
              <a:t>India's heritage sites and festivals form the cultural "pulse" of its cities - but this pulse is sensed only </a:t>
            </a:r>
            <a:r>
              <a:rPr b="1" i="0" lang="en-GB" sz="1200" u="none" cap="none" strike="noStrike">
                <a:solidFill>
                  <a:srgbClr val="2C3249"/>
                </a:solidFill>
              </a:rPr>
              <a:t>reactively</a:t>
            </a:r>
            <a:r>
              <a:rPr i="0" lang="en-GB" sz="1200" u="none" cap="none" strike="noStrike">
                <a:solidFill>
                  <a:srgbClr val="2C3249"/>
                </a:solidFill>
              </a:rPr>
              <a:t>. Monuments get overcrowded during festivals with no advance warning. Accessibility for senior citizens, disabled visitors, and low-income domestic tourists is rarely measured. Weather disruptions aren't factored into visitor planning. Tourism data stays siloed across ASI, state tourism boards, and the Ministry of Tourism.</a:t>
            </a:r>
            <a:endParaRPr i="0" sz="1200" u="none" cap="none" strike="noStrike">
              <a:solidFill>
                <a:srgbClr val="000000"/>
              </a:solidFill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496119" y="3149426"/>
            <a:ext cx="4722900" cy="1247400"/>
          </a:xfrm>
          <a:prstGeom prst="roundRect">
            <a:avLst>
              <a:gd fmla="val 4773" name="adj"/>
            </a:avLst>
          </a:prstGeom>
          <a:solidFill>
            <a:srgbClr val="DF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681250" y="3338175"/>
            <a:ext cx="4395900" cy="8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HK"/>
              <a:buNone/>
            </a:pPr>
            <a:r>
              <a:rPr b="1" i="0" lang="en-GB" sz="1200" u="none" cap="none" strike="noStrik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Urban Pulse - Tourism &amp; Culture</a:t>
            </a:r>
            <a:r>
              <a:rPr i="0" lang="en-GB" sz="1200" u="none" cap="none" strike="noStrike">
                <a:solidFill>
                  <a:srgbClr val="000000"/>
                </a:solidFill>
                <a:latin typeface="Alice"/>
                <a:ea typeface="Alice"/>
                <a:cs typeface="Alice"/>
                <a:sym typeface="Alice"/>
              </a:rPr>
              <a:t> aims to change that: a smart, data-driven platform that senses the real-time and seasonal health of India's tourism ecosystem, turning fragmented government data into actionable insight.</a:t>
            </a:r>
            <a:endParaRPr i="0" sz="1200" u="none" cap="none" strike="noStrike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</p:txBody>
      </p:sp>
      <p:pic>
        <p:nvPicPr>
          <p:cNvPr descr="preencoded.png" id="67" name="Google Shape;6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496050" y="435720"/>
            <a:ext cx="81519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1900"/>
              <a:buFont typeface="Alice"/>
              <a:buNone/>
            </a:pPr>
            <a:r>
              <a:rPr i="0" lang="en-GB" sz="3000" u="none" cap="none" strike="noStrike">
                <a:solidFill>
                  <a:srgbClr val="272D4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Objectives</a:t>
            </a:r>
            <a:endParaRPr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reencoded.png" id="73" name="Google Shape;7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288405"/>
            <a:ext cx="8151764" cy="584746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/>
          <p:nvPr/>
        </p:nvSpPr>
        <p:spPr>
          <a:xfrm>
            <a:off x="629841" y="1489397"/>
            <a:ext cx="1461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50"/>
              <a:buFont typeface="Alice"/>
              <a:buNone/>
            </a:pPr>
            <a:r>
              <a:rPr b="0" i="0" lang="en-GB" sz="1150" u="none" cap="none" strike="noStrike">
                <a:solidFill>
                  <a:srgbClr val="2C3249"/>
                </a:solidFill>
                <a:latin typeface="Alice"/>
                <a:ea typeface="Alice"/>
                <a:cs typeface="Alice"/>
                <a:sym typeface="Alice"/>
              </a:rPr>
              <a:t>1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5"/>
          <p:cNvSpPr/>
          <p:nvPr/>
        </p:nvSpPr>
        <p:spPr>
          <a:xfrm>
            <a:off x="967234" y="1400101"/>
            <a:ext cx="7569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950"/>
              <a:buFont typeface="Alice"/>
              <a:buNone/>
            </a:pPr>
            <a:r>
              <a:rPr i="0" lang="en-GB" sz="1050" u="sng" cap="none" strike="noStrike">
                <a:solidFill>
                  <a:srgbClr val="2C3249"/>
                </a:solidFill>
                <a:latin typeface="Alice"/>
                <a:ea typeface="Alice"/>
                <a:cs typeface="Alice"/>
                <a:sym typeface="Alice"/>
              </a:rPr>
              <a:t>Real-Time Footfall Tracking</a:t>
            </a:r>
            <a:endParaRPr i="0" sz="1050" u="sng" cap="none" strike="noStrike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</p:txBody>
      </p:sp>
      <p:sp>
        <p:nvSpPr>
          <p:cNvPr id="76" name="Google Shape;76;p15"/>
          <p:cNvSpPr/>
          <p:nvPr/>
        </p:nvSpPr>
        <p:spPr>
          <a:xfrm>
            <a:off x="967234" y="1592535"/>
            <a:ext cx="75690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750"/>
              <a:buFont typeface="Noto Sans HK"/>
              <a:buNone/>
            </a:pPr>
            <a:r>
              <a:rPr i="0" lang="en-GB" sz="950" u="none" cap="none" strike="noStrike">
                <a:solidFill>
                  <a:srgbClr val="2C3249"/>
                </a:solidFill>
              </a:rPr>
              <a:t>Track real-time monument footfall for both domestic and foreign visitors across India's heritage sites.</a:t>
            </a:r>
            <a:endParaRPr i="0" sz="950" u="none" cap="none" strike="noStrike">
              <a:solidFill>
                <a:srgbClr val="000000"/>
              </a:solidFill>
            </a:endParaRPr>
          </a:p>
        </p:txBody>
      </p:sp>
      <p:pic>
        <p:nvPicPr>
          <p:cNvPr descr="preencoded.png" id="77" name="Google Shape;7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1940123"/>
            <a:ext cx="8151764" cy="584746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/>
          <p:nvPr/>
        </p:nvSpPr>
        <p:spPr>
          <a:xfrm>
            <a:off x="629841" y="2141116"/>
            <a:ext cx="1461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50"/>
              <a:buFont typeface="Alice"/>
              <a:buNone/>
            </a:pPr>
            <a:r>
              <a:rPr b="0" i="0" lang="en-GB" sz="1150" u="none" cap="none" strike="noStrike">
                <a:solidFill>
                  <a:srgbClr val="2C3249"/>
                </a:solidFill>
                <a:latin typeface="Alice"/>
                <a:ea typeface="Alice"/>
                <a:cs typeface="Alice"/>
                <a:sym typeface="Alice"/>
              </a:rPr>
              <a:t>2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967234" y="2051819"/>
            <a:ext cx="7569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950"/>
              <a:buFont typeface="Alice"/>
              <a:buNone/>
            </a:pPr>
            <a:r>
              <a:rPr i="0" lang="en-GB" sz="1050" u="sng" cap="none" strike="noStrike">
                <a:solidFill>
                  <a:srgbClr val="2C3249"/>
                </a:solidFill>
                <a:latin typeface="Alice"/>
                <a:ea typeface="Alice"/>
                <a:cs typeface="Alice"/>
                <a:sym typeface="Alice"/>
              </a:rPr>
              <a:t>Seasonal Demand Sensing</a:t>
            </a:r>
            <a:endParaRPr i="0" sz="1050" u="sng" cap="none" strike="noStrike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</p:txBody>
      </p:sp>
      <p:sp>
        <p:nvSpPr>
          <p:cNvPr id="80" name="Google Shape;80;p15"/>
          <p:cNvSpPr/>
          <p:nvPr/>
        </p:nvSpPr>
        <p:spPr>
          <a:xfrm>
            <a:off x="967234" y="2244254"/>
            <a:ext cx="75690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750"/>
              <a:buFont typeface="Noto Sans HK"/>
              <a:buNone/>
            </a:pPr>
            <a:r>
              <a:rPr i="0" lang="en-GB" sz="950" u="none" cap="none" strike="noStrike">
                <a:solidFill>
                  <a:srgbClr val="2C3249"/>
                </a:solidFill>
              </a:rPr>
              <a:t>Sense seasonal and festival-driven demand patterns to anticipate surges before they happen.</a:t>
            </a:r>
            <a:endParaRPr i="0" sz="950" u="none" cap="none" strike="noStrike">
              <a:solidFill>
                <a:srgbClr val="000000"/>
              </a:solidFill>
            </a:endParaRPr>
          </a:p>
        </p:txBody>
      </p:sp>
      <p:pic>
        <p:nvPicPr>
          <p:cNvPr descr="preencoded.png" id="81" name="Google Shape;8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2591860"/>
            <a:ext cx="8151764" cy="584746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/>
          <p:nvPr/>
        </p:nvSpPr>
        <p:spPr>
          <a:xfrm>
            <a:off x="629841" y="2792853"/>
            <a:ext cx="1461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50"/>
              <a:buFont typeface="Alice"/>
              <a:buNone/>
            </a:pPr>
            <a:r>
              <a:rPr lang="en-GB" sz="1150">
                <a:solidFill>
                  <a:srgbClr val="2C3249"/>
                </a:solidFill>
                <a:latin typeface="Alice"/>
                <a:ea typeface="Alice"/>
                <a:cs typeface="Alice"/>
                <a:sym typeface="Alice"/>
              </a:rPr>
              <a:t>3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967234" y="2703556"/>
            <a:ext cx="7569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950"/>
              <a:buFont typeface="Alice"/>
              <a:buNone/>
            </a:pPr>
            <a:r>
              <a:rPr i="0" lang="en-GB" sz="1050" u="sng" cap="none" strike="noStrike">
                <a:solidFill>
                  <a:srgbClr val="2C3249"/>
                </a:solidFill>
                <a:latin typeface="Alice"/>
                <a:ea typeface="Alice"/>
                <a:cs typeface="Alice"/>
                <a:sym typeface="Alice"/>
              </a:rPr>
              <a:t>Site Utilization Analysis</a:t>
            </a:r>
            <a:endParaRPr i="0" sz="1050" u="sng" cap="none" strike="noStrike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</p:txBody>
      </p:sp>
      <p:sp>
        <p:nvSpPr>
          <p:cNvPr id="84" name="Google Shape;84;p15"/>
          <p:cNvSpPr/>
          <p:nvPr/>
        </p:nvSpPr>
        <p:spPr>
          <a:xfrm>
            <a:off x="967234" y="2895990"/>
            <a:ext cx="75690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750"/>
              <a:buFont typeface="Noto Sans HK"/>
              <a:buNone/>
            </a:pPr>
            <a:r>
              <a:rPr i="0" lang="en-GB" sz="950" u="none" cap="none" strike="noStrike">
                <a:solidFill>
                  <a:srgbClr val="2C3249"/>
                </a:solidFill>
              </a:rPr>
              <a:t>Identify overcrowded vs. underutilized heritage sites to enable smarter resource distribution.</a:t>
            </a:r>
            <a:endParaRPr i="0" sz="950" u="none" cap="none" strike="noStrike">
              <a:solidFill>
                <a:srgbClr val="000000"/>
              </a:solidFill>
            </a:endParaRPr>
          </a:p>
        </p:txBody>
      </p:sp>
      <p:pic>
        <p:nvPicPr>
          <p:cNvPr descr="preencoded.png" id="85" name="Google Shape;8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3243579"/>
            <a:ext cx="8151764" cy="584746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/>
          <p:nvPr/>
        </p:nvSpPr>
        <p:spPr>
          <a:xfrm>
            <a:off x="629841" y="3444571"/>
            <a:ext cx="1461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50"/>
              <a:buFont typeface="Alice"/>
              <a:buNone/>
            </a:pPr>
            <a:r>
              <a:rPr lang="en-GB" sz="1150">
                <a:solidFill>
                  <a:srgbClr val="2C3249"/>
                </a:solidFill>
                <a:latin typeface="Alice"/>
                <a:ea typeface="Alice"/>
                <a:cs typeface="Alice"/>
                <a:sym typeface="Alice"/>
              </a:rPr>
              <a:t>4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5"/>
          <p:cNvSpPr/>
          <p:nvPr/>
        </p:nvSpPr>
        <p:spPr>
          <a:xfrm>
            <a:off x="967234" y="3355274"/>
            <a:ext cx="7569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950"/>
              <a:buFont typeface="Alice"/>
              <a:buNone/>
            </a:pPr>
            <a:r>
              <a:rPr b="0" i="0" lang="en-GB" sz="1050" u="sng" cap="none" strike="noStrike">
                <a:solidFill>
                  <a:srgbClr val="2C3249"/>
                </a:solidFill>
                <a:latin typeface="Alice"/>
                <a:ea typeface="Alice"/>
                <a:cs typeface="Alice"/>
                <a:sym typeface="Alice"/>
              </a:rPr>
              <a:t>Economic Impact Quantification</a:t>
            </a:r>
            <a:endParaRPr b="0" i="0" sz="1050" u="sng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5"/>
          <p:cNvSpPr/>
          <p:nvPr/>
        </p:nvSpPr>
        <p:spPr>
          <a:xfrm>
            <a:off x="967234" y="3547709"/>
            <a:ext cx="75690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750"/>
              <a:buFont typeface="Noto Sans HK"/>
              <a:buNone/>
            </a:pPr>
            <a:r>
              <a:rPr i="0" lang="en-GB" sz="950" u="none" cap="none" strike="noStrike">
                <a:solidFill>
                  <a:srgbClr val="2C3249"/>
                </a:solidFill>
              </a:rPr>
              <a:t>Quantify economic impact across states to support evidence-based tourism policy.</a:t>
            </a:r>
            <a:endParaRPr i="0" sz="950" u="none" cap="none" strike="noStrike">
              <a:solidFill>
                <a:srgbClr val="000000"/>
              </a:solidFill>
            </a:endParaRPr>
          </a:p>
        </p:txBody>
      </p:sp>
      <p:pic>
        <p:nvPicPr>
          <p:cNvPr descr="preencoded.png" id="89" name="Google Shape;8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6119" y="3895297"/>
            <a:ext cx="8151764" cy="584746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5"/>
          <p:cNvSpPr/>
          <p:nvPr/>
        </p:nvSpPr>
        <p:spPr>
          <a:xfrm>
            <a:off x="629841" y="4096289"/>
            <a:ext cx="146100" cy="18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50"/>
              <a:buFont typeface="Alice"/>
              <a:buNone/>
            </a:pPr>
            <a:r>
              <a:rPr lang="en-GB" sz="1150">
                <a:solidFill>
                  <a:srgbClr val="2C3249"/>
                </a:solidFill>
                <a:latin typeface="Alice"/>
                <a:ea typeface="Alice"/>
                <a:cs typeface="Alice"/>
                <a:sym typeface="Alice"/>
              </a:rPr>
              <a:t>5</a:t>
            </a:r>
            <a:endParaRPr b="0" i="0" sz="115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5"/>
          <p:cNvSpPr/>
          <p:nvPr/>
        </p:nvSpPr>
        <p:spPr>
          <a:xfrm>
            <a:off x="967234" y="4006992"/>
            <a:ext cx="75690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950"/>
              <a:buFont typeface="Alice"/>
              <a:buNone/>
            </a:pPr>
            <a:r>
              <a:rPr b="0" i="0" lang="en-GB" sz="1050" u="sng" cap="none" strike="noStrike">
                <a:solidFill>
                  <a:srgbClr val="2C3249"/>
                </a:solidFill>
                <a:latin typeface="Alice"/>
                <a:ea typeface="Alice"/>
                <a:cs typeface="Alice"/>
                <a:sym typeface="Alice"/>
              </a:rPr>
              <a:t>Footfall Forecasting</a:t>
            </a:r>
            <a:endParaRPr b="0" i="0" sz="1050" u="sng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5"/>
          <p:cNvSpPr/>
          <p:nvPr/>
        </p:nvSpPr>
        <p:spPr>
          <a:xfrm>
            <a:off x="967234" y="4199427"/>
            <a:ext cx="7569000" cy="1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750"/>
              <a:buFont typeface="Noto Sans HK"/>
              <a:buNone/>
            </a:pPr>
            <a:r>
              <a:rPr i="0" lang="en-GB" sz="950" u="none" cap="none" strike="noStrike">
                <a:solidFill>
                  <a:srgbClr val="2C3249"/>
                </a:solidFill>
              </a:rPr>
              <a:t>Enable forecasting of future footfall by season and event calendar for proactive planning.</a:t>
            </a:r>
            <a:endParaRPr i="0" sz="95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/>
          <p:nvPr/>
        </p:nvSpPr>
        <p:spPr>
          <a:xfrm>
            <a:off x="496119" y="708720"/>
            <a:ext cx="81519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2750"/>
              <a:buFont typeface="Alice"/>
              <a:buNone/>
            </a:pPr>
            <a:r>
              <a:rPr i="0" lang="en-GB" sz="2950" u="none" cap="none" strike="noStrike">
                <a:solidFill>
                  <a:srgbClr val="272D4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Scope</a:t>
            </a:r>
            <a:endParaRPr i="0" sz="29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6"/>
          <p:cNvSpPr/>
          <p:nvPr/>
        </p:nvSpPr>
        <p:spPr>
          <a:xfrm>
            <a:off x="394022" y="1364307"/>
            <a:ext cx="4107000" cy="3070500"/>
          </a:xfrm>
          <a:prstGeom prst="roundRect">
            <a:avLst>
              <a:gd fmla="val 3324" name="adj"/>
            </a:avLst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16"/>
          <p:cNvSpPr/>
          <p:nvPr/>
        </p:nvSpPr>
        <p:spPr>
          <a:xfrm>
            <a:off x="535781" y="1506066"/>
            <a:ext cx="38235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lice"/>
              <a:buNone/>
            </a:pPr>
            <a:r>
              <a:rPr i="0" lang="en-GB" sz="1350" u="none" cap="none" strike="noStrike">
                <a:solidFill>
                  <a:srgbClr val="FFFFFF"/>
                </a:solidFill>
              </a:rPr>
              <a:t>In Scope</a:t>
            </a:r>
            <a:endParaRPr i="0" sz="1350" u="none" cap="none" strike="noStrike">
              <a:solidFill>
                <a:srgbClr val="000000"/>
              </a:solidFill>
            </a:endParaRPr>
          </a:p>
        </p:txBody>
      </p:sp>
      <p:sp>
        <p:nvSpPr>
          <p:cNvPr id="100" name="Google Shape;100;p16"/>
          <p:cNvSpPr/>
          <p:nvPr/>
        </p:nvSpPr>
        <p:spPr>
          <a:xfrm>
            <a:off x="535781" y="1869281"/>
            <a:ext cx="3823500" cy="25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987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</a:pPr>
            <a:r>
              <a:rPr i="0" lang="en-GB" sz="1200" u="none" cap="none" strike="noStrike">
                <a:solidFill>
                  <a:srgbClr val="FFFFFF"/>
                </a:solidFill>
              </a:rPr>
              <a:t>India-specific monument visitor data (domestic + foreign)</a:t>
            </a:r>
            <a:endParaRPr i="0" sz="1200" u="none" cap="none" strike="noStrike">
              <a:solidFill>
                <a:srgbClr val="000000"/>
              </a:solidFill>
            </a:endParaRPr>
          </a:p>
          <a:p>
            <a:pPr indent="-22987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•"/>
            </a:pPr>
            <a:r>
              <a:rPr lang="en-GB" sz="1200">
                <a:solidFill>
                  <a:schemeClr val="lt1"/>
                </a:solidFill>
              </a:rPr>
              <a:t>Festival and cultural mela participation &amp; funding, state-wise</a:t>
            </a:r>
            <a:endParaRPr i="0" sz="1200" u="none" cap="none" strike="noStrike">
              <a:solidFill>
                <a:schemeClr val="lt1"/>
              </a:solidFill>
            </a:endParaRPr>
          </a:p>
          <a:p>
            <a:pPr indent="-22987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</a:pPr>
            <a:r>
              <a:rPr i="0" lang="en-GB" sz="1200" u="none" cap="none" strike="noStrike">
                <a:solidFill>
                  <a:srgbClr val="FFFFFF"/>
                </a:solidFill>
              </a:rPr>
              <a:t>Seasonal</a:t>
            </a:r>
            <a:r>
              <a:rPr lang="en-GB" sz="1200">
                <a:solidFill>
                  <a:srgbClr val="FFFFFF"/>
                </a:solidFill>
              </a:rPr>
              <a:t> and festival driven demand patterns</a:t>
            </a:r>
            <a:endParaRPr i="0" sz="1200" u="none" cap="none" strike="noStrike">
              <a:solidFill>
                <a:srgbClr val="000000"/>
              </a:solidFill>
            </a:endParaRPr>
          </a:p>
          <a:p>
            <a:pPr indent="-22987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</a:pPr>
            <a:r>
              <a:rPr i="0" lang="en-GB" sz="1200" u="none" cap="none" strike="noStrike">
                <a:solidFill>
                  <a:srgbClr val="FFFFFF"/>
                </a:solidFill>
              </a:rPr>
              <a:t>Accessibility indicators for vulnerable visitor groups</a:t>
            </a:r>
            <a:endParaRPr i="0" sz="1200" u="none" cap="none" strike="noStrike">
              <a:solidFill>
                <a:srgbClr val="000000"/>
              </a:solidFill>
            </a:endParaRPr>
          </a:p>
          <a:p>
            <a:pPr indent="-22987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</a:pPr>
            <a:r>
              <a:rPr i="0" lang="en-GB" sz="1200" u="none" cap="none" strike="noStrike">
                <a:solidFill>
                  <a:srgbClr val="FFFFFF"/>
                </a:solidFill>
              </a:rPr>
              <a:t>Galaxy schema data model (</a:t>
            </a:r>
            <a:r>
              <a:rPr lang="en-GB" sz="1200">
                <a:solidFill>
                  <a:srgbClr val="FFFFFF"/>
                </a:solidFill>
              </a:rPr>
              <a:t>4</a:t>
            </a:r>
            <a:r>
              <a:rPr i="0" lang="en-GB" sz="1200" u="none" cap="none" strike="noStrike">
                <a:solidFill>
                  <a:srgbClr val="FFFFFF"/>
                </a:solidFill>
              </a:rPr>
              <a:t> fact + </a:t>
            </a:r>
            <a:r>
              <a:rPr lang="en-GB" sz="1200">
                <a:solidFill>
                  <a:srgbClr val="FFFFFF"/>
                </a:solidFill>
              </a:rPr>
              <a:t>3 shared</a:t>
            </a:r>
            <a:r>
              <a:rPr i="0" lang="en-GB" sz="1200" u="none" cap="none" strike="noStrike">
                <a:solidFill>
                  <a:srgbClr val="FFFFFF"/>
                </a:solidFill>
              </a:rPr>
              <a:t> dimension tables</a:t>
            </a:r>
            <a:r>
              <a:rPr lang="en-GB" sz="1200">
                <a:solidFill>
                  <a:srgbClr val="FFFFFF"/>
                </a:solidFill>
              </a:rPr>
              <a:t>)</a:t>
            </a:r>
            <a:endParaRPr i="0" sz="1200" u="none" cap="none" strike="noStrike">
              <a:solidFill>
                <a:srgbClr val="000000"/>
              </a:solidFill>
            </a:endParaRPr>
          </a:p>
          <a:p>
            <a:pPr indent="-22987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</a:pPr>
            <a:r>
              <a:rPr i="0" lang="en-GB" sz="1200" u="none" cap="none" strike="noStrike">
                <a:solidFill>
                  <a:srgbClr val="FFFFFF"/>
                </a:solidFill>
              </a:rPr>
              <a:t>Interactive dashboards - geospatial, trends, executive views</a:t>
            </a:r>
            <a:endParaRPr i="0" sz="1200" u="none" cap="none" strike="noStrike">
              <a:solidFill>
                <a:srgbClr val="000000"/>
              </a:solidFill>
            </a:endParaRPr>
          </a:p>
        </p:txBody>
      </p:sp>
      <p:sp>
        <p:nvSpPr>
          <p:cNvPr id="101" name="Google Shape;101;p16"/>
          <p:cNvSpPr/>
          <p:nvPr/>
        </p:nvSpPr>
        <p:spPr>
          <a:xfrm>
            <a:off x="4749700" y="1364306"/>
            <a:ext cx="3903000" cy="3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1350"/>
              <a:buFont typeface="Alice"/>
              <a:buNone/>
            </a:pPr>
            <a:r>
              <a:rPr i="0" lang="en-GB" sz="2250" u="none" cap="none" strike="noStrike">
                <a:solidFill>
                  <a:srgbClr val="272D4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 of Scope</a:t>
            </a:r>
            <a:endParaRPr i="0" sz="22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4749701" y="1869281"/>
            <a:ext cx="3903000" cy="15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362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300"/>
              <a:buChar char="•"/>
            </a:pPr>
            <a:r>
              <a:rPr i="0" lang="en-GB" sz="1300" u="none" cap="none" strike="noStrike">
                <a:solidFill>
                  <a:srgbClr val="2C3249"/>
                </a:solidFill>
              </a:rPr>
              <a:t>Global/cross-country tourism comparisons</a:t>
            </a:r>
            <a:endParaRPr i="0" sz="1300" u="none" cap="none" strike="noStrike">
              <a:solidFill>
                <a:srgbClr val="000000"/>
              </a:solidFill>
            </a:endParaRPr>
          </a:p>
          <a:p>
            <a:pPr indent="-2362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300"/>
              <a:buChar char="•"/>
            </a:pPr>
            <a:r>
              <a:rPr i="0" lang="en-GB" sz="1300" u="none" cap="none" strike="noStrike">
                <a:solidFill>
                  <a:srgbClr val="2C3249"/>
                </a:solidFill>
              </a:rPr>
              <a:t>Outbound travel (Indians traveling abroad)</a:t>
            </a:r>
            <a:endParaRPr i="0" sz="1300" u="none" cap="none" strike="noStrike">
              <a:solidFill>
                <a:srgbClr val="000000"/>
              </a:solidFill>
            </a:endParaRPr>
          </a:p>
          <a:p>
            <a:pPr indent="-2362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300"/>
              <a:buChar char="•"/>
            </a:pPr>
            <a:r>
              <a:rPr i="0" lang="en-GB" sz="1300" u="none" cap="none" strike="noStrike">
                <a:solidFill>
                  <a:srgbClr val="2C3249"/>
                </a:solidFill>
              </a:rPr>
              <a:t>Everyday commuter mobility (covered by the Mobility team)</a:t>
            </a:r>
            <a:endParaRPr i="0" sz="1300" u="none" cap="none" strike="noStrike">
              <a:solidFill>
                <a:srgbClr val="000000"/>
              </a:solidFill>
            </a:endParaRPr>
          </a:p>
          <a:p>
            <a:pPr indent="-2362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300"/>
              <a:buChar char="•"/>
            </a:pPr>
            <a:r>
              <a:rPr i="0" lang="en-GB" sz="1300" u="none" cap="none" strike="noStrike">
                <a:solidFill>
                  <a:srgbClr val="2C3249"/>
                </a:solidFill>
              </a:rPr>
              <a:t>Hotel occupancy and booking systems</a:t>
            </a:r>
            <a:endParaRPr i="0" sz="1300" u="none" cap="none" strike="noStrike">
              <a:solidFill>
                <a:srgbClr val="000000"/>
              </a:solidFill>
            </a:endParaRPr>
          </a:p>
          <a:p>
            <a:pPr indent="-236220" lvl="0" marL="22352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300"/>
              <a:buChar char="•"/>
            </a:pPr>
            <a:r>
              <a:rPr i="0" lang="en-GB" sz="1300" u="none" cap="none" strike="noStrike">
                <a:solidFill>
                  <a:srgbClr val="2C3249"/>
                </a:solidFill>
              </a:rPr>
              <a:t>Real-time IoT sensor deployment</a:t>
            </a:r>
            <a:endParaRPr i="0" sz="13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/>
          <p:nvPr/>
        </p:nvSpPr>
        <p:spPr>
          <a:xfrm>
            <a:off x="496050" y="228643"/>
            <a:ext cx="8151900" cy="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1350"/>
              <a:buFont typeface="Alice"/>
              <a:buNone/>
            </a:pPr>
            <a:r>
              <a:rPr i="0" lang="en-GB" sz="2950" u="none" cap="none" strike="noStrike">
                <a:solidFill>
                  <a:srgbClr val="272D4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Proposed Solution</a:t>
            </a:r>
            <a:endParaRPr i="0" sz="29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369675" y="872725"/>
            <a:ext cx="86091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550"/>
              <a:buFont typeface="Noto Sans HK"/>
              <a:buNone/>
            </a:pPr>
            <a:r>
              <a:rPr i="0" lang="en-GB" sz="1250" u="none" cap="none" strike="noStrike">
                <a:solidFill>
                  <a:srgbClr val="2C3249"/>
                </a:solidFill>
              </a:rPr>
              <a:t>A unified data intelligence platform connecting monument footfall and festival participation through a shared Galaxy schema, visualized in interactive dashboards.</a:t>
            </a:r>
            <a:endParaRPr i="0" sz="1250" u="none" cap="none" strike="noStrike">
              <a:solidFill>
                <a:srgbClr val="000000"/>
              </a:solidFill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363525" y="3898625"/>
            <a:ext cx="8278200" cy="10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550"/>
              <a:buFont typeface="Noto Sans HK"/>
              <a:buNone/>
            </a:pPr>
            <a:r>
              <a:rPr i="0" lang="en-GB" sz="1550" u="none" cap="none" strike="noStrike">
                <a:solidFill>
                  <a:srgbClr val="2C3249"/>
                </a:solidFill>
              </a:rPr>
              <a:t>Each step in the pipeline is designed to be reproducible, cross-platform, and aligned with verified Government of India data sources - ensuring the platform is genuinely deployable, not just a prototype.</a:t>
            </a:r>
            <a:endParaRPr i="0" sz="1550" u="none" cap="none" strike="noStrike">
              <a:solidFill>
                <a:srgbClr val="000000"/>
              </a:solidFill>
            </a:endParaRPr>
          </a:p>
        </p:txBody>
      </p:sp>
      <p:grpSp>
        <p:nvGrpSpPr>
          <p:cNvPr id="110" name="Google Shape;110;p17"/>
          <p:cNvGrpSpPr/>
          <p:nvPr/>
        </p:nvGrpSpPr>
        <p:grpSpPr>
          <a:xfrm>
            <a:off x="363524" y="1258050"/>
            <a:ext cx="2662786" cy="2547000"/>
            <a:chOff x="363524" y="1258050"/>
            <a:chExt cx="2662786" cy="2547000"/>
          </a:xfrm>
        </p:grpSpPr>
        <p:sp>
          <p:nvSpPr>
            <p:cNvPr id="111" name="Google Shape;111;p17"/>
            <p:cNvSpPr/>
            <p:nvPr/>
          </p:nvSpPr>
          <p:spPr>
            <a:xfrm rot="2700000">
              <a:off x="1356161" y="1011412"/>
              <a:ext cx="561726" cy="3040276"/>
            </a:xfrm>
            <a:prstGeom prst="roundRect">
              <a:avLst>
                <a:gd fmla="val 50000" name="adj"/>
              </a:avLst>
            </a:prstGeom>
            <a:solidFill>
              <a:srgbClr val="0942A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7"/>
            <p:cNvSpPr/>
            <p:nvPr/>
          </p:nvSpPr>
          <p:spPr>
            <a:xfrm>
              <a:off x="580539" y="3205393"/>
              <a:ext cx="374100" cy="374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rotWithShape="0" algn="tl" dir="5400000" dist="50800">
                <a:srgbClr val="000000">
                  <a:alpha val="549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0942A1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 b="1" sz="1200">
                <a:solidFill>
                  <a:srgbClr val="0942A1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3" name="Google Shape;113;p17"/>
            <p:cNvSpPr txBox="1"/>
            <p:nvPr/>
          </p:nvSpPr>
          <p:spPr>
            <a:xfrm rot="-2700000">
              <a:off x="567889" y="2239754"/>
              <a:ext cx="2336422" cy="3932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Collect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4" name="Google Shape;114;p17"/>
            <p:cNvSpPr txBox="1"/>
            <p:nvPr/>
          </p:nvSpPr>
          <p:spPr>
            <a:xfrm rot="-2700000">
              <a:off x="965996" y="2487197"/>
              <a:ext cx="2203628" cy="5074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GB">
                  <a:latin typeface="Roboto"/>
                  <a:ea typeface="Roboto"/>
                  <a:cs typeface="Roboto"/>
                  <a:sym typeface="Roboto"/>
                </a:rPr>
                <a:t>Excel datasets</a:t>
              </a:r>
              <a:endParaRPr b="1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15" name="Google Shape;115;p17"/>
          <p:cNvGrpSpPr/>
          <p:nvPr/>
        </p:nvGrpSpPr>
        <p:grpSpPr>
          <a:xfrm>
            <a:off x="2273746" y="1258050"/>
            <a:ext cx="2669561" cy="2547000"/>
            <a:chOff x="2273746" y="1258050"/>
            <a:chExt cx="2669561" cy="2547000"/>
          </a:xfrm>
        </p:grpSpPr>
        <p:sp>
          <p:nvSpPr>
            <p:cNvPr id="116" name="Google Shape;116;p17"/>
            <p:cNvSpPr/>
            <p:nvPr/>
          </p:nvSpPr>
          <p:spPr>
            <a:xfrm rot="2700000">
              <a:off x="3266383" y="1011412"/>
              <a:ext cx="561726" cy="3040276"/>
            </a:xfrm>
            <a:prstGeom prst="roundRect">
              <a:avLst>
                <a:gd fmla="val 50000" name="adj"/>
              </a:avLst>
            </a:prstGeom>
            <a:solidFill>
              <a:srgbClr val="0C57D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7"/>
            <p:cNvSpPr/>
            <p:nvPr/>
          </p:nvSpPr>
          <p:spPr>
            <a:xfrm>
              <a:off x="2490761" y="3205393"/>
              <a:ext cx="374100" cy="374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rotWithShape="0" algn="tl" dir="5400000" dist="50800">
                <a:srgbClr val="000000">
                  <a:alpha val="549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0C57D3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 b="1" sz="1200">
                <a:solidFill>
                  <a:srgbClr val="0C57D3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8" name="Google Shape;118;p17"/>
            <p:cNvSpPr txBox="1"/>
            <p:nvPr/>
          </p:nvSpPr>
          <p:spPr>
            <a:xfrm rot="-2700000">
              <a:off x="2473968" y="2237954"/>
              <a:ext cx="2341513" cy="3932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Clean &amp; Transform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19" name="Google Shape;119;p17"/>
            <p:cNvSpPr txBox="1"/>
            <p:nvPr/>
          </p:nvSpPr>
          <p:spPr>
            <a:xfrm rot="-2700000">
              <a:off x="2882993" y="2508347"/>
              <a:ext cx="2203628" cy="5074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Python ETL Pipeline</a:t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0" name="Google Shape;120;p17"/>
          <p:cNvGrpSpPr/>
          <p:nvPr/>
        </p:nvGrpSpPr>
        <p:grpSpPr>
          <a:xfrm>
            <a:off x="4193764" y="1258050"/>
            <a:ext cx="2666536" cy="2547000"/>
            <a:chOff x="4193764" y="1258050"/>
            <a:chExt cx="2666536" cy="2547000"/>
          </a:xfrm>
        </p:grpSpPr>
        <p:sp>
          <p:nvSpPr>
            <p:cNvPr id="121" name="Google Shape;121;p17"/>
            <p:cNvSpPr/>
            <p:nvPr/>
          </p:nvSpPr>
          <p:spPr>
            <a:xfrm rot="2700000">
              <a:off x="5186401" y="1011412"/>
              <a:ext cx="561726" cy="3040276"/>
            </a:xfrm>
            <a:prstGeom prst="roundRect">
              <a:avLst>
                <a:gd fmla="val 50000" name="adj"/>
              </a:avLst>
            </a:prstGeom>
            <a:solidFill>
              <a:srgbClr val="0D5CD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7"/>
            <p:cNvSpPr/>
            <p:nvPr/>
          </p:nvSpPr>
          <p:spPr>
            <a:xfrm>
              <a:off x="4410780" y="3205393"/>
              <a:ext cx="374100" cy="374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rotWithShape="0" algn="tl" dir="5400000" dist="50800">
                <a:srgbClr val="000000">
                  <a:alpha val="549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0D5CDF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 b="1" sz="1200">
                <a:solidFill>
                  <a:srgbClr val="0D5CD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3" name="Google Shape;123;p17"/>
            <p:cNvSpPr txBox="1"/>
            <p:nvPr/>
          </p:nvSpPr>
          <p:spPr>
            <a:xfrm rot="-2700000">
              <a:off x="4400124" y="2240504"/>
              <a:ext cx="2334301" cy="3932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Store</a:t>
              </a:r>
              <a:endParaRPr b="1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4" name="Google Shape;124;p17"/>
            <p:cNvSpPr txBox="1"/>
            <p:nvPr/>
          </p:nvSpPr>
          <p:spPr>
            <a:xfrm rot="-2700000">
              <a:off x="4799986" y="2497772"/>
              <a:ext cx="2203628" cy="5074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Cloud PostgreSQL Via Supabase</a:t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  <p:grpSp>
        <p:nvGrpSpPr>
          <p:cNvPr id="125" name="Google Shape;125;p17"/>
          <p:cNvGrpSpPr/>
          <p:nvPr/>
        </p:nvGrpSpPr>
        <p:grpSpPr>
          <a:xfrm>
            <a:off x="6103986" y="1258050"/>
            <a:ext cx="2673311" cy="2547000"/>
            <a:chOff x="6103986" y="1258050"/>
            <a:chExt cx="2673311" cy="2547000"/>
          </a:xfrm>
        </p:grpSpPr>
        <p:sp>
          <p:nvSpPr>
            <p:cNvPr id="126" name="Google Shape;126;p17"/>
            <p:cNvSpPr/>
            <p:nvPr/>
          </p:nvSpPr>
          <p:spPr>
            <a:xfrm rot="2700000">
              <a:off x="7096623" y="1011412"/>
              <a:ext cx="561726" cy="3040276"/>
            </a:xfrm>
            <a:prstGeom prst="roundRect">
              <a:avLst>
                <a:gd fmla="val 50000" name="adj"/>
              </a:avLst>
            </a:prstGeom>
            <a:solidFill>
              <a:srgbClr val="0E63F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17"/>
            <p:cNvSpPr/>
            <p:nvPr/>
          </p:nvSpPr>
          <p:spPr>
            <a:xfrm>
              <a:off x="6321002" y="3205393"/>
              <a:ext cx="374100" cy="3741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rotWithShape="0" algn="tl" dir="5400000" dist="50800">
                <a:srgbClr val="000000">
                  <a:alpha val="5490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solidFill>
                    <a:srgbClr val="0E63F0"/>
                  </a:solidFill>
                  <a:latin typeface="Roboto"/>
                  <a:ea typeface="Roboto"/>
                  <a:cs typeface="Roboto"/>
                  <a:sym typeface="Roboto"/>
                </a:rPr>
                <a:t>4</a:t>
              </a:r>
              <a:endParaRPr b="1" sz="1200">
                <a:solidFill>
                  <a:srgbClr val="0E63F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8" name="Google Shape;128;p17"/>
            <p:cNvSpPr txBox="1"/>
            <p:nvPr/>
          </p:nvSpPr>
          <p:spPr>
            <a:xfrm rot="-2700000">
              <a:off x="6306241" y="2238854"/>
              <a:ext cx="2338968" cy="3932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600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Visualize</a:t>
              </a:r>
              <a:endParaRPr b="1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129" name="Google Shape;129;p17"/>
            <p:cNvSpPr txBox="1"/>
            <p:nvPr/>
          </p:nvSpPr>
          <p:spPr>
            <a:xfrm rot="-2700000">
              <a:off x="6716983" y="2487197"/>
              <a:ext cx="2203628" cy="5074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1600"/>
                </a:spcAft>
                <a:buNone/>
              </a:pPr>
              <a:r>
                <a:rPr lang="en-GB" sz="1200">
                  <a:latin typeface="Roboto"/>
                  <a:ea typeface="Roboto"/>
                  <a:cs typeface="Roboto"/>
                  <a:sym typeface="Roboto"/>
                </a:rPr>
                <a:t>Power BI &amp; Looker Studio Dashboards</a:t>
              </a:r>
              <a:endParaRPr b="1" sz="1200"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/>
          <p:nvPr/>
        </p:nvSpPr>
        <p:spPr>
          <a:xfrm>
            <a:off x="496125" y="175844"/>
            <a:ext cx="4722900" cy="54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1750"/>
              <a:buFont typeface="Alice"/>
              <a:buNone/>
            </a:pPr>
            <a:r>
              <a:rPr i="0" lang="en-GB" sz="2950" u="none" cap="none" strike="noStrike">
                <a:solidFill>
                  <a:srgbClr val="272D4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Technology Stack</a:t>
            </a:r>
            <a:endParaRPr i="0" sz="29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496129" y="805075"/>
            <a:ext cx="7783200" cy="817500"/>
          </a:xfrm>
          <a:prstGeom prst="roundRect">
            <a:avLst>
              <a:gd fmla="val 4665" name="adj"/>
            </a:avLst>
          </a:prstGeom>
          <a:solidFill>
            <a:srgbClr val="DFECE9"/>
          </a:solidFill>
          <a:ln cap="flat" cmpd="sng" w="95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591666" y="900633"/>
            <a:ext cx="272400" cy="272400"/>
          </a:xfrm>
          <a:prstGeom prst="ellipse">
            <a:avLst/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37" name="Google Shape;13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6601" y="975568"/>
            <a:ext cx="122560" cy="12256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8"/>
          <p:cNvSpPr/>
          <p:nvPr/>
        </p:nvSpPr>
        <p:spPr>
          <a:xfrm>
            <a:off x="1075250" y="900625"/>
            <a:ext cx="45318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850"/>
              <a:buFont typeface="Alice"/>
              <a:buNone/>
            </a:pPr>
            <a:r>
              <a:rPr i="0" lang="en-GB" sz="1550" u="none" cap="none" strike="noStrike">
                <a:solidFill>
                  <a:srgbClr val="2C3249"/>
                </a:solidFill>
              </a:rPr>
              <a:t>Python (pandas)</a:t>
            </a:r>
            <a:endParaRPr i="0" sz="1550" u="none" cap="none" strike="noStrike">
              <a:solidFill>
                <a:srgbClr val="000000"/>
              </a:solidFill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864075" y="1219757"/>
            <a:ext cx="75558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700"/>
              <a:buFont typeface="Noto Sans HK"/>
              <a:buNone/>
            </a:pPr>
            <a:r>
              <a:rPr i="0" lang="en-GB" u="none" cap="none" strike="noStrike">
                <a:solidFill>
                  <a:srgbClr val="2C3249"/>
                </a:solidFill>
              </a:rPr>
              <a:t>ETL: extracting, cleaning, and transforming raw datasets into structured form.</a:t>
            </a:r>
            <a:endParaRPr i="0" u="none" cap="none" strike="noStrike">
              <a:solidFill>
                <a:srgbClr val="000000"/>
              </a:solidFill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496129" y="1680800"/>
            <a:ext cx="7783200" cy="817500"/>
          </a:xfrm>
          <a:prstGeom prst="roundRect">
            <a:avLst>
              <a:gd fmla="val 4665" name="adj"/>
            </a:avLst>
          </a:prstGeom>
          <a:solidFill>
            <a:srgbClr val="DFECE9"/>
          </a:solidFill>
          <a:ln cap="flat" cmpd="sng" w="95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591666" y="1776338"/>
            <a:ext cx="272400" cy="272400"/>
          </a:xfrm>
          <a:prstGeom prst="ellipse">
            <a:avLst/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42" name="Google Shape;14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601" y="1851273"/>
            <a:ext cx="122560" cy="12256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/>
          <p:nvPr/>
        </p:nvSpPr>
        <p:spPr>
          <a:xfrm>
            <a:off x="1075250" y="1796778"/>
            <a:ext cx="4531800" cy="28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850"/>
              <a:buFont typeface="Alice"/>
              <a:buNone/>
            </a:pPr>
            <a:r>
              <a:rPr i="0" lang="en-GB" sz="1550" u="none" cap="none" strike="noStrike">
                <a:solidFill>
                  <a:srgbClr val="2C3249"/>
                </a:solidFill>
              </a:rPr>
              <a:t>Supabase</a:t>
            </a:r>
            <a:endParaRPr i="0" sz="1550" u="none" cap="none" strike="noStrike">
              <a:solidFill>
                <a:srgbClr val="000000"/>
              </a:solidFill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864075" y="2093188"/>
            <a:ext cx="75558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700"/>
              <a:buFont typeface="Noto Sans HK"/>
              <a:buNone/>
            </a:pPr>
            <a:r>
              <a:rPr i="0" lang="en-GB" u="none" cap="none" strike="noStrike">
                <a:solidFill>
                  <a:srgbClr val="2C3249"/>
                </a:solidFill>
              </a:rPr>
              <a:t>Free cloud PostgreSQL database - shared and cross-platform across Mac and Windows.</a:t>
            </a:r>
            <a:endParaRPr i="0" u="none" cap="none" strike="noStrike">
              <a:solidFill>
                <a:srgbClr val="000000"/>
              </a:solidFill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496129" y="2556500"/>
            <a:ext cx="7783200" cy="817500"/>
          </a:xfrm>
          <a:prstGeom prst="roundRect">
            <a:avLst>
              <a:gd fmla="val 4665" name="adj"/>
            </a:avLst>
          </a:prstGeom>
          <a:solidFill>
            <a:srgbClr val="DFECE9"/>
          </a:solidFill>
          <a:ln cap="flat" cmpd="sng" w="95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591666" y="2652043"/>
            <a:ext cx="272400" cy="272400"/>
          </a:xfrm>
          <a:prstGeom prst="ellipse">
            <a:avLst/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47" name="Google Shape;14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6601" y="2726978"/>
            <a:ext cx="122560" cy="12256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/>
          <p:nvPr/>
        </p:nvSpPr>
        <p:spPr>
          <a:xfrm>
            <a:off x="1075250" y="2603571"/>
            <a:ext cx="45318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850"/>
              <a:buFont typeface="Alice"/>
              <a:buNone/>
            </a:pPr>
            <a:r>
              <a:rPr i="0" lang="en-GB" sz="1550" u="none" cap="none" strike="noStrike">
                <a:solidFill>
                  <a:srgbClr val="2C3249"/>
                </a:solidFill>
              </a:rPr>
              <a:t>Power BI &amp; Looker Studio</a:t>
            </a:r>
            <a:r>
              <a:rPr lang="en-GB" sz="1550">
                <a:solidFill>
                  <a:srgbClr val="2C3249"/>
                </a:solidFill>
              </a:rPr>
              <a:t> and dbdiagram.io</a:t>
            </a:r>
            <a:endParaRPr i="0" sz="1550" u="none" cap="none" strike="noStrike">
              <a:solidFill>
                <a:srgbClr val="000000"/>
              </a:solidFill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934425" y="2825375"/>
            <a:ext cx="75558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700"/>
              <a:buFont typeface="Noto Sans HK"/>
              <a:buNone/>
            </a:pPr>
            <a:r>
              <a:rPr i="0" lang="en-GB" u="none" cap="none" strike="noStrike">
                <a:solidFill>
                  <a:srgbClr val="2C3249"/>
                </a:solidFill>
              </a:rPr>
              <a:t>Dashboard visualization and executive reporting for stakeholders </a:t>
            </a:r>
            <a:r>
              <a:rPr lang="en-GB">
                <a:solidFill>
                  <a:srgbClr val="2C3249"/>
                </a:solidFill>
              </a:rPr>
              <a:t>&amp;</a:t>
            </a:r>
            <a:r>
              <a:rPr i="0" lang="en-GB" u="none" cap="none" strike="noStrike">
                <a:solidFill>
                  <a:srgbClr val="2C3249"/>
                </a:solidFill>
              </a:rPr>
              <a:t> policymakers. </a:t>
            </a:r>
            <a:r>
              <a:rPr lang="en-GB">
                <a:solidFill>
                  <a:srgbClr val="2C3249"/>
                </a:solidFill>
              </a:rPr>
              <a:t>Looker Studio is deployed as web based dashboard solution for seamless cross platform access on macOS</a:t>
            </a:r>
            <a:endParaRPr>
              <a:solidFill>
                <a:srgbClr val="2C3249"/>
              </a:solidFill>
            </a:endParaRPr>
          </a:p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700"/>
              <a:buFont typeface="Noto Sans HK"/>
              <a:buNone/>
            </a:pPr>
            <a:r>
              <a:t/>
            </a:r>
            <a:endParaRPr>
              <a:solidFill>
                <a:srgbClr val="2C3249"/>
              </a:solidFill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496129" y="3432200"/>
            <a:ext cx="7783200" cy="817500"/>
          </a:xfrm>
          <a:prstGeom prst="roundRect">
            <a:avLst>
              <a:gd fmla="val 4665" name="adj"/>
            </a:avLst>
          </a:prstGeom>
          <a:solidFill>
            <a:srgbClr val="DFECE9"/>
          </a:solidFill>
          <a:ln cap="flat" cmpd="sng" w="95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591666" y="3527747"/>
            <a:ext cx="272400" cy="272400"/>
          </a:xfrm>
          <a:prstGeom prst="ellipse">
            <a:avLst/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52" name="Google Shape;15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601" y="3602682"/>
            <a:ext cx="122560" cy="12256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8"/>
          <p:cNvSpPr/>
          <p:nvPr/>
        </p:nvSpPr>
        <p:spPr>
          <a:xfrm>
            <a:off x="1075250" y="3568355"/>
            <a:ext cx="45318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850"/>
              <a:buFont typeface="Alice"/>
              <a:buNone/>
            </a:pPr>
            <a:r>
              <a:rPr i="0" lang="en-GB" sz="1550" u="none" cap="none" strike="noStrike">
                <a:solidFill>
                  <a:srgbClr val="2C3249"/>
                </a:solidFill>
              </a:rPr>
              <a:t>GitHub</a:t>
            </a:r>
            <a:endParaRPr i="0" sz="1550" u="none" cap="none" strike="noStrike">
              <a:solidFill>
                <a:srgbClr val="000000"/>
              </a:solidFill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864075" y="3800150"/>
            <a:ext cx="7555800" cy="3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700"/>
              <a:buFont typeface="Noto Sans HK"/>
              <a:buNone/>
            </a:pPr>
            <a:r>
              <a:rPr i="0" lang="en-GB" u="none" cap="none" strike="noStrike">
                <a:solidFill>
                  <a:srgbClr val="2C3249"/>
                </a:solidFill>
              </a:rPr>
              <a:t>Version control for scripts, schema docs, and team collaboration across the project lifecycle.</a:t>
            </a:r>
            <a:endParaRPr i="0" u="none" cap="none" strike="noStrike">
              <a:solidFill>
                <a:srgbClr val="000000"/>
              </a:solidFill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496125" y="4306475"/>
            <a:ext cx="7783200" cy="647700"/>
          </a:xfrm>
          <a:prstGeom prst="roundRect">
            <a:avLst>
              <a:gd fmla="val 9679" name="adj"/>
            </a:avLst>
          </a:prstGeom>
          <a:solidFill>
            <a:srgbClr val="B6D6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56" name="Google Shape;156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6900" y="4430175"/>
            <a:ext cx="272400" cy="21791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/>
          <p:nvPr/>
        </p:nvSpPr>
        <p:spPr>
          <a:xfrm>
            <a:off x="882225" y="4426939"/>
            <a:ext cx="4336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Noto Sans HK"/>
              <a:buNone/>
            </a:pPr>
            <a:r>
              <a:rPr i="1" lang="en-GB" u="none" cap="none" strike="noStrike">
                <a:solidFill>
                  <a:srgbClr val="000000"/>
                </a:solidFill>
              </a:rPr>
              <a:t>Supabase was chosen specifically because our team works across both Mac and Windows environments.</a:t>
            </a:r>
            <a:endParaRPr i="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9"/>
          <p:cNvSpPr/>
          <p:nvPr/>
        </p:nvSpPr>
        <p:spPr>
          <a:xfrm>
            <a:off x="496119" y="439117"/>
            <a:ext cx="81519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2750"/>
              <a:buFont typeface="Alice"/>
              <a:buNone/>
            </a:pPr>
            <a:r>
              <a:rPr i="0" lang="en-GB" sz="2950" u="none" cap="none" strike="noStrike">
                <a:solidFill>
                  <a:srgbClr val="272D4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About Our Datasets</a:t>
            </a:r>
            <a:endParaRPr i="0" sz="29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" name="Google Shape;163;p19"/>
          <p:cNvSpPr/>
          <p:nvPr/>
        </p:nvSpPr>
        <p:spPr>
          <a:xfrm>
            <a:off x="496125" y="1072176"/>
            <a:ext cx="8609100" cy="3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00"/>
              <a:buFont typeface="Noto Sans HK"/>
              <a:buNone/>
            </a:pPr>
            <a:r>
              <a:rPr i="0" lang="en-GB" sz="1300" u="none" cap="none" strike="noStrike">
                <a:solidFill>
                  <a:srgbClr val="2C3249"/>
                </a:solidFill>
              </a:rPr>
              <a:t>All data is sourced from verified Government of India portals and official ministry reports.</a:t>
            </a:r>
            <a:endParaRPr i="0" sz="1300" u="none" cap="none" strike="noStrike">
              <a:solidFill>
                <a:srgbClr val="000000"/>
              </a:solidFill>
            </a:endParaRPr>
          </a:p>
        </p:txBody>
      </p:sp>
      <p:sp>
        <p:nvSpPr>
          <p:cNvPr id="164" name="Google Shape;164;p19"/>
          <p:cNvSpPr/>
          <p:nvPr/>
        </p:nvSpPr>
        <p:spPr>
          <a:xfrm>
            <a:off x="496125" y="1551900"/>
            <a:ext cx="8151900" cy="3401100"/>
          </a:xfrm>
          <a:prstGeom prst="roundRect">
            <a:avLst>
              <a:gd fmla="val 1889" name="adj"/>
            </a:avLst>
          </a:prstGeom>
          <a:noFill/>
          <a:ln cap="flat" cmpd="sng" w="9525">
            <a:solidFill>
              <a:srgbClr val="000000">
                <a:alpha val="784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9"/>
          <p:cNvSpPr/>
          <p:nvPr/>
        </p:nvSpPr>
        <p:spPr>
          <a:xfrm>
            <a:off x="496119" y="1965499"/>
            <a:ext cx="8151900" cy="90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9"/>
          <p:cNvSpPr/>
          <p:nvPr/>
        </p:nvSpPr>
        <p:spPr>
          <a:xfrm>
            <a:off x="496119" y="2603525"/>
            <a:ext cx="8151900" cy="90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9"/>
          <p:cNvSpPr/>
          <p:nvPr/>
        </p:nvSpPr>
        <p:spPr>
          <a:xfrm>
            <a:off x="496119" y="3241551"/>
            <a:ext cx="8151900" cy="90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19"/>
          <p:cNvSpPr/>
          <p:nvPr/>
        </p:nvSpPr>
        <p:spPr>
          <a:xfrm>
            <a:off x="496119" y="3879577"/>
            <a:ext cx="8151900" cy="90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19"/>
          <p:cNvSpPr/>
          <p:nvPr/>
        </p:nvSpPr>
        <p:spPr>
          <a:xfrm>
            <a:off x="496125" y="4383000"/>
            <a:ext cx="8151900" cy="9000"/>
          </a:xfrm>
          <a:prstGeom prst="rect">
            <a:avLst/>
          </a:prstGeom>
          <a:solidFill>
            <a:srgbClr val="000000">
              <a:alpha val="784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9"/>
          <p:cNvSpPr/>
          <p:nvPr/>
        </p:nvSpPr>
        <p:spPr>
          <a:xfrm>
            <a:off x="500955" y="1556668"/>
            <a:ext cx="2035522" cy="408831"/>
          </a:xfrm>
          <a:custGeom>
            <a:rect b="b" l="l" r="r" t="t"/>
            <a:pathLst>
              <a:path extrusionOk="0" h="408831" w="2035522">
                <a:moveTo>
                  <a:pt x="49619" y="0"/>
                </a:moveTo>
                <a:lnTo>
                  <a:pt x="2035522" y="0"/>
                </a:lnTo>
                <a:lnTo>
                  <a:pt x="2035522" y="408831"/>
                </a:lnTo>
                <a:lnTo>
                  <a:pt x="0" y="408831"/>
                </a:lnTo>
                <a:lnTo>
                  <a:pt x="0" y="49619"/>
                </a:lnTo>
                <a:cubicBezTo>
                  <a:pt x="0" y="22215"/>
                  <a:pt x="22215" y="0"/>
                  <a:pt x="49619" y="0"/>
                </a:cubicBezTo>
                <a:close/>
              </a:path>
            </a:pathLst>
          </a:cu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9"/>
          <p:cNvSpPr/>
          <p:nvPr/>
        </p:nvSpPr>
        <p:spPr>
          <a:xfrm>
            <a:off x="642714" y="1646486"/>
            <a:ext cx="22092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Noto Sans HK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Noto Sans HK"/>
                <a:ea typeface="Noto Sans HK"/>
                <a:cs typeface="Noto Sans HK"/>
                <a:sym typeface="Noto Sans HK"/>
              </a:rPr>
              <a:t>Source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2536478" y="1556668"/>
            <a:ext cx="2849700" cy="408900"/>
          </a:xfrm>
          <a:prstGeom prst="rect">
            <a:avLst/>
          </a:pr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9"/>
          <p:cNvSpPr/>
          <p:nvPr/>
        </p:nvSpPr>
        <p:spPr>
          <a:xfrm>
            <a:off x="2678237" y="1646486"/>
            <a:ext cx="30234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Noto Sans HK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Noto Sans HK"/>
                <a:ea typeface="Noto Sans HK"/>
                <a:cs typeface="Noto Sans HK"/>
                <a:sym typeface="Noto Sans HK"/>
              </a:rPr>
              <a:t>Coverage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9"/>
          <p:cNvSpPr/>
          <p:nvPr/>
        </p:nvSpPr>
        <p:spPr>
          <a:xfrm>
            <a:off x="5386239" y="1556668"/>
            <a:ext cx="3256880" cy="408831"/>
          </a:xfrm>
          <a:custGeom>
            <a:rect b="b" l="l" r="r" t="t"/>
            <a:pathLst>
              <a:path extrusionOk="0" h="408831" w="3256880">
                <a:moveTo>
                  <a:pt x="0" y="0"/>
                </a:moveTo>
                <a:lnTo>
                  <a:pt x="3207262" y="0"/>
                </a:lnTo>
                <a:cubicBezTo>
                  <a:pt x="3220422" y="0"/>
                  <a:pt x="3233043" y="5228"/>
                  <a:pt x="3242348" y="14533"/>
                </a:cubicBezTo>
                <a:cubicBezTo>
                  <a:pt x="3251653" y="23838"/>
                  <a:pt x="3256881" y="36459"/>
                  <a:pt x="3256881" y="49619"/>
                </a:cubicBezTo>
                <a:lnTo>
                  <a:pt x="3256880" y="408831"/>
                </a:lnTo>
                <a:lnTo>
                  <a:pt x="0" y="408831"/>
                </a:lnTo>
                <a:lnTo>
                  <a:pt x="0" y="0"/>
                </a:lnTo>
                <a:close/>
              </a:path>
            </a:pathLst>
          </a:custGeom>
          <a:solidFill>
            <a:srgbClr val="43706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19"/>
          <p:cNvSpPr/>
          <p:nvPr/>
        </p:nvSpPr>
        <p:spPr>
          <a:xfrm>
            <a:off x="5527997" y="1646486"/>
            <a:ext cx="3430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Noto Sans HK"/>
              <a:buNone/>
            </a:pPr>
            <a:r>
              <a:rPr b="1" i="0" lang="en-GB" sz="1100" u="none" cap="none" strike="noStrike">
                <a:solidFill>
                  <a:srgbClr val="FFFFFF"/>
                </a:solidFill>
                <a:latin typeface="Noto Sans HK"/>
                <a:ea typeface="Noto Sans HK"/>
                <a:cs typeface="Noto Sans HK"/>
                <a:sym typeface="Noto Sans HK"/>
              </a:rPr>
              <a:t>Used For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642714" y="2057698"/>
            <a:ext cx="17520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00"/>
              <a:buFont typeface="Noto Sans HK"/>
              <a:buNone/>
            </a:pPr>
            <a:r>
              <a:rPr i="0" lang="en-GB" sz="1300" u="none" cap="none" strike="noStrike">
                <a:solidFill>
                  <a:srgbClr val="2C3249"/>
                </a:solidFill>
              </a:rPr>
              <a:t>Ministry of Tourism / IITTM Report</a:t>
            </a:r>
            <a:endParaRPr i="0" sz="1300" u="none" cap="none" strike="noStrike">
              <a:solidFill>
                <a:srgbClr val="000000"/>
              </a:solidFill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2678237" y="2057698"/>
            <a:ext cx="30234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00"/>
              <a:buFont typeface="Noto Sans HK"/>
              <a:buNone/>
            </a:pPr>
            <a:r>
              <a:rPr lang="en-GB" sz="1300">
                <a:solidFill>
                  <a:srgbClr val="2C3249"/>
                </a:solidFill>
              </a:rPr>
              <a:t>Tourist places, entry fees</a:t>
            </a:r>
            <a:endParaRPr i="0" sz="1300" u="none" cap="none" strike="noStrike">
              <a:solidFill>
                <a:srgbClr val="000000"/>
              </a:solidFill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5527997" y="2057698"/>
            <a:ext cx="3430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00"/>
              <a:buFont typeface="Noto Sans HK"/>
              <a:buNone/>
            </a:pPr>
            <a:r>
              <a:rPr lang="en-GB" sz="1300">
                <a:solidFill>
                  <a:srgbClr val="2C3249"/>
                </a:solidFill>
              </a:rPr>
              <a:t>Fact_attractions</a:t>
            </a:r>
            <a:endParaRPr sz="1300">
              <a:solidFill>
                <a:srgbClr val="2C3249"/>
              </a:solidFill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00"/>
              <a:buFont typeface="Noto Sans HK"/>
              <a:buNone/>
            </a:pPr>
            <a:r>
              <a:t/>
            </a:r>
            <a:endParaRPr sz="1300">
              <a:solidFill>
                <a:srgbClr val="2C3249"/>
              </a:solidFill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642714" y="2695724"/>
            <a:ext cx="22092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00"/>
              <a:buFont typeface="Noto Sans HK"/>
              <a:buNone/>
            </a:pPr>
            <a:r>
              <a:rPr lang="en-GB" sz="1200">
                <a:solidFill>
                  <a:schemeClr val="dk1"/>
                </a:solidFill>
              </a:rPr>
              <a:t>data.gov.in (DPPH 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00"/>
              <a:buFont typeface="Noto Sans HK"/>
              <a:buNone/>
            </a:pPr>
            <a:r>
              <a:rPr lang="en-GB" sz="1200">
                <a:solidFill>
                  <a:schemeClr val="dk1"/>
                </a:solidFill>
              </a:rPr>
              <a:t>Scheme &amp; NE)</a:t>
            </a:r>
            <a:endParaRPr i="0" sz="1300" u="none" cap="none" strike="noStrike">
              <a:solidFill>
                <a:srgbClr val="000000"/>
              </a:solidFill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2678237" y="2695724"/>
            <a:ext cx="25662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00"/>
              <a:buFont typeface="Noto Sans HK"/>
              <a:buNone/>
            </a:pPr>
            <a:r>
              <a:rPr lang="en-GB" sz="1300">
                <a:solidFill>
                  <a:srgbClr val="2C3249"/>
                </a:solidFill>
              </a:rPr>
              <a:t>State-wise festival funding (2014–2024)</a:t>
            </a:r>
            <a:endParaRPr i="0" sz="1300" u="none" cap="none" strike="noStrike">
              <a:solidFill>
                <a:srgbClr val="000000"/>
              </a:solidFill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5527997" y="2695724"/>
            <a:ext cx="3430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00"/>
              <a:buFont typeface="Noto Sans HK"/>
              <a:buNone/>
            </a:pPr>
            <a:r>
              <a:rPr lang="en-GB" sz="1300"/>
              <a:t>Fact_festivals</a:t>
            </a:r>
            <a:endParaRPr sz="1300"/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00"/>
              <a:buFont typeface="Noto Sans HK"/>
              <a:buNone/>
            </a:pPr>
            <a:r>
              <a:t/>
            </a:r>
            <a:endParaRPr sz="1300"/>
          </a:p>
        </p:txBody>
      </p:sp>
      <p:sp>
        <p:nvSpPr>
          <p:cNvPr id="182" name="Google Shape;182;p19"/>
          <p:cNvSpPr/>
          <p:nvPr/>
        </p:nvSpPr>
        <p:spPr>
          <a:xfrm>
            <a:off x="642714" y="3333750"/>
            <a:ext cx="17520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00"/>
              <a:buFont typeface="Noto Sans HK"/>
              <a:buNone/>
            </a:pPr>
            <a:r>
              <a:rPr lang="en-GB" sz="1300"/>
              <a:t>data.tourism.gov.in</a:t>
            </a:r>
            <a:endParaRPr i="0" sz="1300" u="none" cap="none" strike="noStrike">
              <a:solidFill>
                <a:srgbClr val="000000"/>
              </a:solidFill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2678237" y="3333750"/>
            <a:ext cx="30234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00"/>
              <a:buFont typeface="Noto Sans HK"/>
              <a:buNone/>
            </a:pPr>
            <a:r>
              <a:rPr lang="en-GB" sz="1300">
                <a:solidFill>
                  <a:srgbClr val="2C3249"/>
                </a:solidFill>
              </a:rPr>
              <a:t>Monthly revenue &amp; foreign arrivals (2019–2022)</a:t>
            </a:r>
            <a:endParaRPr i="0" sz="1300" u="none" cap="none" strike="noStrike">
              <a:solidFill>
                <a:srgbClr val="000000"/>
              </a:solidFill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5527997" y="3333750"/>
            <a:ext cx="3430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00"/>
              <a:buFont typeface="Noto Sans HK"/>
              <a:buNone/>
            </a:pPr>
            <a:r>
              <a:rPr lang="en-GB" sz="1300">
                <a:solidFill>
                  <a:srgbClr val="2C3249"/>
                </a:solidFill>
              </a:rPr>
              <a:t>fact_monthly_tourism</a:t>
            </a:r>
            <a:endParaRPr i="0" sz="1300" u="none" cap="none" strike="noStrike">
              <a:solidFill>
                <a:srgbClr val="000000"/>
              </a:solidFill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642714" y="3971776"/>
            <a:ext cx="22092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00"/>
              <a:buFont typeface="Noto Sans HK"/>
              <a:buNone/>
            </a:pPr>
            <a:r>
              <a:rPr lang="en-GB" sz="1300">
                <a:solidFill>
                  <a:srgbClr val="2C3249"/>
                </a:solidFill>
              </a:rPr>
              <a:t>data.tourism.gov.in</a:t>
            </a:r>
            <a:endParaRPr i="0" sz="1300" u="none" cap="none" strike="noStrike">
              <a:solidFill>
                <a:srgbClr val="000000"/>
              </a:solidFill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2678225" y="3971774"/>
            <a:ext cx="30234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00"/>
              <a:buFont typeface="Noto Sans HK"/>
              <a:buNone/>
            </a:pPr>
            <a:r>
              <a:rPr lang="en-GB" sz="1300">
                <a:solidFill>
                  <a:srgbClr val="2C3249"/>
                </a:solidFill>
              </a:rPr>
              <a:t>FTAs by country, age demographics,</a:t>
            </a:r>
            <a:endParaRPr sz="1300">
              <a:solidFill>
                <a:srgbClr val="2C3249"/>
              </a:solidFill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00"/>
              <a:buFont typeface="Noto Sans HK"/>
              <a:buNone/>
            </a:pPr>
            <a:r>
              <a:rPr lang="en-GB" sz="1300">
                <a:solidFill>
                  <a:srgbClr val="2C3249"/>
                </a:solidFill>
              </a:rPr>
              <a:t> avg stay duration</a:t>
            </a:r>
            <a:endParaRPr i="0" sz="1300" u="none" cap="none" strike="noStrike">
              <a:solidFill>
                <a:srgbClr val="000000"/>
              </a:solidFill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5527997" y="3971776"/>
            <a:ext cx="3430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00"/>
              <a:buFont typeface="Noto Sans HK"/>
              <a:buNone/>
            </a:pPr>
            <a:r>
              <a:rPr lang="en-GB" sz="1300">
                <a:solidFill>
                  <a:srgbClr val="2C3249"/>
                </a:solidFill>
              </a:rPr>
              <a:t>fact_country_arrivals</a:t>
            </a:r>
            <a:endParaRPr i="0" sz="1300" u="none" cap="none" strike="noStrike">
              <a:solidFill>
                <a:srgbClr val="000000"/>
              </a:solidFill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642714" y="4487763"/>
            <a:ext cx="22092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00"/>
              <a:buFont typeface="Noto Sans HK"/>
              <a:buNone/>
            </a:pPr>
            <a:r>
              <a:rPr lang="en-GB" sz="1300">
                <a:solidFill>
                  <a:srgbClr val="2C3249"/>
                </a:solidFill>
              </a:rPr>
              <a:t>Ministry of tourism/ASI</a:t>
            </a:r>
            <a:endParaRPr i="0" sz="1300" u="none" cap="none" strike="noStrike">
              <a:solidFill>
                <a:srgbClr val="000000"/>
              </a:solidFill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2678237" y="4487763"/>
            <a:ext cx="30234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00"/>
              <a:buFont typeface="Noto Sans HK"/>
              <a:buNone/>
            </a:pPr>
            <a:r>
              <a:rPr lang="en-GB" sz="1300">
                <a:solidFill>
                  <a:srgbClr val="2C3249"/>
                </a:solidFill>
              </a:rPr>
              <a:t>Master lookups for Time, Cities/States, and Foreign Countries</a:t>
            </a:r>
            <a:endParaRPr i="0" sz="1300" u="none" cap="none" strike="noStrike">
              <a:solidFill>
                <a:srgbClr val="000000"/>
              </a:solidFill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5527997" y="4487763"/>
            <a:ext cx="34305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00"/>
              <a:buFont typeface="Noto Sans HK"/>
              <a:buNone/>
            </a:pPr>
            <a:r>
              <a:rPr lang="en-GB" sz="1300">
                <a:solidFill>
                  <a:srgbClr val="2C3249"/>
                </a:solidFill>
              </a:rPr>
              <a:t>Dim_time, dim_location, dim_country</a:t>
            </a:r>
            <a:endParaRPr i="0" sz="13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0"/>
          <p:cNvSpPr/>
          <p:nvPr/>
        </p:nvSpPr>
        <p:spPr>
          <a:xfrm>
            <a:off x="496125" y="393573"/>
            <a:ext cx="81519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1400"/>
              <a:buFont typeface="Alice"/>
              <a:buNone/>
            </a:pPr>
            <a:r>
              <a:rPr i="0" lang="en-GB" sz="3000" u="none" cap="none" strike="noStrike">
                <a:solidFill>
                  <a:srgbClr val="272D4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4665900" y="1194077"/>
            <a:ext cx="39867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700"/>
              <a:buFont typeface="Alice"/>
              <a:buNone/>
            </a:pPr>
            <a:r>
              <a:rPr b="1" lang="en-GB" sz="1800" u="sng" cap="none" strike="noStrike">
                <a:solidFill>
                  <a:srgbClr val="272D45"/>
                </a:solidFill>
              </a:rPr>
              <a:t>Galaxy Schema</a:t>
            </a:r>
            <a:r>
              <a:rPr b="1" lang="en-GB" sz="1800">
                <a:solidFill>
                  <a:srgbClr val="272D45"/>
                </a:solidFill>
              </a:rPr>
              <a:t> </a:t>
            </a:r>
            <a:r>
              <a:rPr b="1" i="1" lang="en-GB" sz="1800" u="none" cap="none" strike="noStrike">
                <a:solidFill>
                  <a:srgbClr val="272D45"/>
                </a:solidFill>
              </a:rPr>
              <a:t>(Fact Constellation)</a:t>
            </a:r>
            <a:endParaRPr b="1" i="1" sz="1800" u="none" cap="none" strike="noStrike">
              <a:solidFill>
                <a:srgbClr val="000000"/>
              </a:solidFill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4665900" y="1581975"/>
            <a:ext cx="3986700" cy="222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chemeClr val="dk1"/>
                </a:solidFill>
              </a:rPr>
              <a:t>We use a </a:t>
            </a:r>
            <a:r>
              <a:rPr b="1" lang="en-GB" sz="1300">
                <a:solidFill>
                  <a:schemeClr val="dk1"/>
                </a:solidFill>
              </a:rPr>
              <a:t>Galaxy Schema</a:t>
            </a:r>
            <a:r>
              <a:rPr lang="en-GB" sz="1300">
                <a:solidFill>
                  <a:schemeClr val="dk1"/>
                </a:solidFill>
              </a:rPr>
              <a:t> consisting of </a:t>
            </a:r>
            <a:r>
              <a:rPr b="1" lang="en-GB" sz="1300">
                <a:solidFill>
                  <a:schemeClr val="dk1"/>
                </a:solidFill>
              </a:rPr>
              <a:t>4 Fact tables sharing 3 core Dimension tables</a:t>
            </a:r>
            <a:r>
              <a:rPr lang="en-GB" sz="1300">
                <a:solidFill>
                  <a:schemeClr val="dk1"/>
                </a:solidFill>
              </a:rPr>
              <a:t>: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GB" sz="1300">
                <a:solidFill>
                  <a:schemeClr val="dk1"/>
                </a:solidFill>
              </a:rPr>
              <a:t>Dimension Tables (Shared Context):</a:t>
            </a:r>
            <a:r>
              <a:rPr lang="en-GB" sz="1300">
                <a:solidFill>
                  <a:schemeClr val="dk1"/>
                </a:solidFill>
              </a:rPr>
              <a:t> </a:t>
            </a:r>
            <a:r>
              <a:rPr lang="en-GB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dim_time</a:t>
            </a:r>
            <a:r>
              <a:rPr lang="en-GB" sz="1300">
                <a:solidFill>
                  <a:schemeClr val="dk1"/>
                </a:solidFill>
              </a:rPr>
              <a:t>, </a:t>
            </a:r>
            <a:r>
              <a:rPr lang="en-GB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dim_location</a:t>
            </a:r>
            <a:r>
              <a:rPr lang="en-GB" sz="1300">
                <a:solidFill>
                  <a:schemeClr val="dk1"/>
                </a:solidFill>
              </a:rPr>
              <a:t>, and </a:t>
            </a:r>
            <a:r>
              <a:rPr lang="en-GB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dim_country</a:t>
            </a:r>
            <a:r>
              <a:rPr lang="en-GB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b="1" lang="en-GB" sz="1300">
                <a:solidFill>
                  <a:schemeClr val="dk1"/>
                </a:solidFill>
              </a:rPr>
              <a:t>Fact Tables (Specific Metrics &amp; Granularities):</a:t>
            </a:r>
            <a:r>
              <a:rPr lang="en-GB" sz="1300">
                <a:solidFill>
                  <a:schemeClr val="dk1"/>
                </a:solidFill>
              </a:rPr>
              <a:t> </a:t>
            </a:r>
            <a:r>
              <a:rPr lang="en-GB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fact_attractions</a:t>
            </a:r>
            <a:r>
              <a:rPr lang="en-GB" sz="1300">
                <a:solidFill>
                  <a:schemeClr val="dk1"/>
                </a:solidFill>
              </a:rPr>
              <a:t>, </a:t>
            </a:r>
            <a:r>
              <a:rPr lang="en-GB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fact_festivals</a:t>
            </a:r>
            <a:r>
              <a:rPr lang="en-GB" sz="1300">
                <a:solidFill>
                  <a:schemeClr val="dk1"/>
                </a:solidFill>
              </a:rPr>
              <a:t>, </a:t>
            </a:r>
            <a:r>
              <a:rPr lang="en-GB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fact_monthly_tourism</a:t>
            </a:r>
            <a:r>
              <a:rPr lang="en-GB" sz="1300">
                <a:solidFill>
                  <a:schemeClr val="dk1"/>
                </a:solidFill>
              </a:rPr>
              <a:t>, and </a:t>
            </a:r>
            <a:r>
              <a:rPr lang="en-GB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fact_country_arrivals</a:t>
            </a:r>
            <a:r>
              <a:rPr lang="en-GB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1000"/>
              </a:lnSpc>
              <a:spcBef>
                <a:spcPts val="1200"/>
              </a:spcBef>
              <a:spcAft>
                <a:spcPts val="0"/>
              </a:spcAft>
              <a:buClr>
                <a:srgbClr val="2C3249"/>
              </a:buClr>
              <a:buSzPts val="550"/>
              <a:buFont typeface="Noto Sans HK"/>
              <a:buNone/>
            </a:pPr>
            <a:r>
              <a:t/>
            </a:r>
            <a:endParaRPr sz="1550">
              <a:solidFill>
                <a:srgbClr val="2C3249"/>
              </a:solidFill>
              <a:latin typeface="Noto Sans HK"/>
              <a:ea typeface="Noto Sans HK"/>
              <a:cs typeface="Noto Sans HK"/>
              <a:sym typeface="Noto Sans HK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4748100" y="3916576"/>
            <a:ext cx="3986700" cy="998400"/>
          </a:xfrm>
          <a:prstGeom prst="roundRect">
            <a:avLst>
              <a:gd fmla="val 10915" name="adj"/>
            </a:avLst>
          </a:prstGeom>
          <a:solidFill>
            <a:srgbClr val="DF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99" name="Google Shape;19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2060" y="4260340"/>
            <a:ext cx="91306" cy="7307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0"/>
          <p:cNvSpPr/>
          <p:nvPr/>
        </p:nvSpPr>
        <p:spPr>
          <a:xfrm>
            <a:off x="4971825" y="4025899"/>
            <a:ext cx="3676200" cy="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0"/>
              <a:buFont typeface="Noto Sans HK"/>
              <a:buNone/>
            </a:pPr>
            <a:r>
              <a:rPr lang="en-GB" sz="1000">
                <a:solidFill>
                  <a:schemeClr val="dk1"/>
                </a:solidFill>
              </a:rPr>
              <a:t>We chose a Galaxy Schema because our domain spans multiple events at different levels of detail (point-in-time spot ratings vs. monthly revenue vs. demographic percentages). Structuring it this way prevents data duplication and keeps Power BI measures fast and accurate.</a:t>
            </a:r>
            <a:endParaRPr i="0" sz="800" u="none" cap="none" strike="noStrike">
              <a:solidFill>
                <a:srgbClr val="000000"/>
              </a:solidFill>
            </a:endParaRPr>
          </a:p>
        </p:txBody>
      </p:sp>
      <p:pic>
        <p:nvPicPr>
          <p:cNvPr id="201" name="Google Shape;201;p20" title="Untitl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119900"/>
            <a:ext cx="4361100" cy="3795074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611600" y="4589700"/>
            <a:ext cx="38361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100" u="sng">
                <a:solidFill>
                  <a:schemeClr val="dk1"/>
                </a:solidFill>
              </a:rPr>
              <a:t>Database ER diagram modeled via dbdiagram.io.</a:t>
            </a:r>
            <a:endParaRPr i="1" sz="1700" u="sng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1"/>
          <p:cNvSpPr/>
          <p:nvPr/>
        </p:nvSpPr>
        <p:spPr>
          <a:xfrm>
            <a:off x="496050" y="239056"/>
            <a:ext cx="8151900" cy="6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2750"/>
              <a:buFont typeface="Alice"/>
              <a:buNone/>
            </a:pPr>
            <a:r>
              <a:rPr i="0" lang="en-GB" sz="3050" u="none" cap="none" strike="noStrike">
                <a:solidFill>
                  <a:srgbClr val="272D4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Progress Snapshot </a:t>
            </a:r>
            <a:endParaRPr i="0" sz="30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0" y="2204325"/>
            <a:ext cx="2718900" cy="10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lice"/>
              <a:buNone/>
            </a:pPr>
            <a:r>
              <a:rPr lang="en-GB" sz="1600">
                <a:solidFill>
                  <a:schemeClr val="dk1"/>
                </a:solidFill>
                <a:latin typeface="Alice"/>
                <a:ea typeface="Alice"/>
                <a:cs typeface="Alice"/>
                <a:sym typeface="Alice"/>
              </a:rPr>
              <a:t>Database schema (4 fact, shared dimensions) modeled in dbdiagram.io and deployed on Supabase PostgreSQL</a:t>
            </a:r>
            <a:endParaRPr i="0" sz="1750" u="none" cap="none" strike="noStrike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</p:txBody>
      </p:sp>
      <p:pic>
        <p:nvPicPr>
          <p:cNvPr id="209" name="Google Shape;209;p21" title="Untitl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18826" y="899060"/>
            <a:ext cx="6425174" cy="424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2" title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2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19" name="Google Shape;21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0" y="0"/>
            <a:ext cx="3429001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/>
          <p:nvPr/>
        </p:nvSpPr>
        <p:spPr>
          <a:xfrm>
            <a:off x="496125" y="259504"/>
            <a:ext cx="47229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2400"/>
              <a:buFont typeface="Alice"/>
              <a:buNone/>
            </a:pPr>
            <a:r>
              <a:rPr i="0" lang="en-GB" sz="3000" u="none" cap="none" strike="noStrike">
                <a:solidFill>
                  <a:srgbClr val="272D4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Expected Outcomes</a:t>
            </a:r>
            <a:endParaRPr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reencoded.png" id="221" name="Google Shape;221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9465" y="831977"/>
            <a:ext cx="186035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3"/>
          <p:cNvSpPr/>
          <p:nvPr/>
        </p:nvSpPr>
        <p:spPr>
          <a:xfrm>
            <a:off x="875983" y="828182"/>
            <a:ext cx="43197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200"/>
              <a:buFont typeface="Alice"/>
              <a:buNone/>
            </a:pPr>
            <a:r>
              <a:rPr i="0" lang="en-GB" u="sng" cap="none" strike="noStrike">
                <a:solidFill>
                  <a:srgbClr val="2C3249"/>
                </a:solidFill>
                <a:latin typeface="Alice"/>
                <a:ea typeface="Alice"/>
                <a:cs typeface="Alice"/>
                <a:sym typeface="Alice"/>
              </a:rPr>
              <a:t>Unified Dashboard</a:t>
            </a:r>
            <a:endParaRPr i="0" u="sng" cap="none" strike="noStrike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</p:txBody>
      </p:sp>
      <p:sp>
        <p:nvSpPr>
          <p:cNvPr id="223" name="Google Shape;223;p23"/>
          <p:cNvSpPr/>
          <p:nvPr/>
        </p:nvSpPr>
        <p:spPr>
          <a:xfrm>
            <a:off x="899150" y="1129800"/>
            <a:ext cx="43197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950"/>
              <a:buFont typeface="Noto Sans HK"/>
              <a:buNone/>
            </a:pPr>
            <a:r>
              <a:rPr i="0" lang="en-GB" sz="1250" u="none" cap="none" strike="noStrike">
                <a:solidFill>
                  <a:srgbClr val="2C3249"/>
                </a:solidFill>
              </a:rPr>
              <a:t>A single dashboard covering both monument footfall and festival participation - giving stakeholders a complete picture of India's cultural tourism ecosystem.</a:t>
            </a:r>
            <a:endParaRPr i="0" sz="1250" u="none" cap="none" strike="noStrike">
              <a:solidFill>
                <a:srgbClr val="000000"/>
              </a:solidFill>
            </a:endParaRPr>
          </a:p>
        </p:txBody>
      </p:sp>
      <p:pic>
        <p:nvPicPr>
          <p:cNvPr descr="preencoded.png" id="224" name="Google Shape;22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9465" y="1940109"/>
            <a:ext cx="186035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3"/>
          <p:cNvSpPr/>
          <p:nvPr/>
        </p:nvSpPr>
        <p:spPr>
          <a:xfrm>
            <a:off x="875983" y="1936314"/>
            <a:ext cx="43197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200"/>
              <a:buFont typeface="Alice"/>
              <a:buNone/>
            </a:pPr>
            <a:r>
              <a:rPr i="0" lang="en-GB" u="sng" cap="none" strike="noStrike">
                <a:solidFill>
                  <a:srgbClr val="2C3249"/>
                </a:solidFill>
                <a:latin typeface="Alice"/>
                <a:ea typeface="Alice"/>
                <a:cs typeface="Alice"/>
                <a:sym typeface="Alice"/>
              </a:rPr>
              <a:t>Seasonal Forecasting</a:t>
            </a:r>
            <a:endParaRPr i="0" u="sng" cap="none" strike="noStrike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</p:txBody>
      </p:sp>
      <p:sp>
        <p:nvSpPr>
          <p:cNvPr id="226" name="Google Shape;226;p23"/>
          <p:cNvSpPr/>
          <p:nvPr/>
        </p:nvSpPr>
        <p:spPr>
          <a:xfrm>
            <a:off x="899145" y="2169225"/>
            <a:ext cx="43197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950"/>
              <a:buFont typeface="Noto Sans HK"/>
              <a:buNone/>
            </a:pPr>
            <a:r>
              <a:rPr i="0" lang="en-GB" sz="1250" u="none" cap="none" strike="noStrike">
                <a:solidFill>
                  <a:srgbClr val="2C3249"/>
                </a:solidFill>
              </a:rPr>
              <a:t>Predictive models anticipating demand spikes by festival, season, and weather - enabling proactive planning rather than reactive crisis management.</a:t>
            </a:r>
            <a:endParaRPr i="0" sz="1250" u="none" cap="none" strike="noStrike">
              <a:solidFill>
                <a:srgbClr val="000000"/>
              </a:solidFill>
            </a:endParaRPr>
          </a:p>
        </p:txBody>
      </p:sp>
      <p:pic>
        <p:nvPicPr>
          <p:cNvPr descr="preencoded.png" id="227" name="Google Shape;227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9465" y="2924205"/>
            <a:ext cx="186035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875983" y="2920409"/>
            <a:ext cx="43197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200"/>
              <a:buFont typeface="Alice"/>
              <a:buNone/>
            </a:pPr>
            <a:r>
              <a:rPr i="0" lang="en-GB" u="sng" cap="none" strike="noStrike">
                <a:solidFill>
                  <a:srgbClr val="2C3249"/>
                </a:solidFill>
                <a:latin typeface="Alice"/>
                <a:ea typeface="Alice"/>
                <a:cs typeface="Alice"/>
                <a:sym typeface="Alice"/>
              </a:rPr>
              <a:t>Accessibility Insights</a:t>
            </a:r>
            <a:endParaRPr i="0" u="sng" cap="none" strike="noStrike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</p:txBody>
      </p:sp>
      <p:sp>
        <p:nvSpPr>
          <p:cNvPr id="229" name="Google Shape;229;p23"/>
          <p:cNvSpPr/>
          <p:nvPr/>
        </p:nvSpPr>
        <p:spPr>
          <a:xfrm>
            <a:off x="875970" y="3187082"/>
            <a:ext cx="4319700" cy="3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950"/>
              <a:buFont typeface="Noto Sans HK"/>
              <a:buNone/>
            </a:pPr>
            <a:r>
              <a:rPr i="0" lang="en-GB" sz="1250" u="none" cap="none" strike="noStrike">
                <a:solidFill>
                  <a:srgbClr val="2C3249"/>
                </a:solidFill>
              </a:rPr>
              <a:t>Highlighting gaps for seniors, disabled visitors, and low-income tourists - groups whose needs are rarely captured in existing tourism data.</a:t>
            </a:r>
            <a:endParaRPr i="0" sz="1250" u="none" cap="none" strike="noStrike">
              <a:solidFill>
                <a:srgbClr val="000000"/>
              </a:solidFill>
            </a:endParaRPr>
          </a:p>
        </p:txBody>
      </p:sp>
      <p:pic>
        <p:nvPicPr>
          <p:cNvPr descr="preencoded.png" id="230" name="Google Shape;230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7877" y="3908264"/>
            <a:ext cx="186035" cy="18603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3"/>
          <p:cNvSpPr/>
          <p:nvPr/>
        </p:nvSpPr>
        <p:spPr>
          <a:xfrm>
            <a:off x="864395" y="3904469"/>
            <a:ext cx="4319700" cy="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200"/>
              <a:buFont typeface="Alice"/>
              <a:buNone/>
            </a:pPr>
            <a:r>
              <a:rPr i="0" lang="en-GB" u="sng" cap="none" strike="noStrike">
                <a:solidFill>
                  <a:srgbClr val="2C3249"/>
                </a:solidFill>
                <a:latin typeface="Alice"/>
                <a:ea typeface="Alice"/>
                <a:cs typeface="Alice"/>
                <a:sym typeface="Alice"/>
              </a:rPr>
              <a:t>Deployable Policy Model</a:t>
            </a:r>
            <a:endParaRPr i="0" u="sng" cap="none" strike="noStrike">
              <a:solidFill>
                <a:srgbClr val="000000"/>
              </a:solidFill>
              <a:latin typeface="Alice"/>
              <a:ea typeface="Alice"/>
              <a:cs typeface="Alice"/>
              <a:sym typeface="Alice"/>
            </a:endParaRPr>
          </a:p>
        </p:txBody>
      </p:sp>
      <p:sp>
        <p:nvSpPr>
          <p:cNvPr id="232" name="Google Shape;232;p23"/>
          <p:cNvSpPr/>
          <p:nvPr/>
        </p:nvSpPr>
        <p:spPr>
          <a:xfrm>
            <a:off x="875983" y="4186604"/>
            <a:ext cx="43197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950"/>
              <a:buFont typeface="Noto Sans HK"/>
              <a:buNone/>
            </a:pPr>
            <a:r>
              <a:rPr i="0" lang="en-GB" sz="1250" u="none" cap="none" strike="noStrike">
                <a:solidFill>
                  <a:srgbClr val="2C3249"/>
                </a:solidFill>
              </a:rPr>
              <a:t>A genuinely deployable model aligned with </a:t>
            </a:r>
            <a:r>
              <a:rPr b="1" i="0" lang="en-GB" sz="1250" u="none" cap="none" strike="noStrike">
                <a:solidFill>
                  <a:srgbClr val="2C3249"/>
                </a:solidFill>
              </a:rPr>
              <a:t>Dekho Apna Desh</a:t>
            </a:r>
            <a:r>
              <a:rPr i="0" lang="en-GB" sz="1250" u="none" cap="none" strike="noStrike">
                <a:solidFill>
                  <a:srgbClr val="2C3249"/>
                </a:solidFill>
              </a:rPr>
              <a:t> -and </a:t>
            </a:r>
            <a:r>
              <a:rPr b="1" i="0" lang="en-GB" sz="1250" u="none" cap="none" strike="noStrike">
                <a:solidFill>
                  <a:srgbClr val="2C3249"/>
                </a:solidFill>
              </a:rPr>
              <a:t>Swadesh Darshan</a:t>
            </a:r>
            <a:r>
              <a:rPr i="0" lang="en-GB" sz="1250" u="none" cap="none" strike="noStrike">
                <a:solidFill>
                  <a:srgbClr val="2C3249"/>
                </a:solidFill>
              </a:rPr>
              <a:t> - ready for adoption by state tourism boards and policymakers.</a:t>
            </a:r>
            <a:endParaRPr i="0" sz="125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4"/>
          <p:cNvSpPr/>
          <p:nvPr/>
        </p:nvSpPr>
        <p:spPr>
          <a:xfrm>
            <a:off x="496119" y="660350"/>
            <a:ext cx="81519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72D45"/>
              </a:buClr>
              <a:buSzPts val="2750"/>
              <a:buFont typeface="Alice"/>
              <a:buNone/>
            </a:pPr>
            <a:r>
              <a:rPr i="0" lang="en-GB" sz="3050" u="none" cap="none" strike="noStrike">
                <a:solidFill>
                  <a:srgbClr val="272D4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i="0" sz="305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" name="Google Shape;238;p24"/>
          <p:cNvSpPr/>
          <p:nvPr/>
        </p:nvSpPr>
        <p:spPr>
          <a:xfrm>
            <a:off x="496125" y="1255611"/>
            <a:ext cx="8151900" cy="5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00"/>
              <a:buFont typeface="Noto Sans HK"/>
              <a:buNone/>
            </a:pPr>
            <a:r>
              <a:rPr i="0" lang="en-GB" sz="1300" u="none" cap="none" strike="noStrike">
                <a:solidFill>
                  <a:srgbClr val="2C3249"/>
                </a:solidFill>
              </a:rPr>
              <a:t>Tourism and Culture together form the </a:t>
            </a:r>
            <a:r>
              <a:rPr b="1" i="0" lang="en-GB" sz="1300" u="none" cap="none" strike="noStrike">
                <a:solidFill>
                  <a:srgbClr val="2C3249"/>
                </a:solidFill>
              </a:rPr>
              <a:t>living heritage layer</a:t>
            </a:r>
            <a:r>
              <a:rPr i="0" lang="en-GB" sz="1300" u="none" cap="none" strike="noStrike">
                <a:solidFill>
                  <a:srgbClr val="2C3249"/>
                </a:solidFill>
              </a:rPr>
              <a:t> of India's Urban Pulse - distinct from everyday mobility, yet built on the same core philosophy: sensing a city's pulse and turning fragmented data into actionable insight.</a:t>
            </a:r>
            <a:endParaRPr i="0" sz="1300" u="none" cap="none" strike="noStrike">
              <a:solidFill>
                <a:srgbClr val="000000"/>
              </a:solidFill>
            </a:endParaRPr>
          </a:p>
        </p:txBody>
      </p:sp>
      <p:sp>
        <p:nvSpPr>
          <p:cNvPr id="239" name="Google Shape;239;p24"/>
          <p:cNvSpPr/>
          <p:nvPr/>
        </p:nvSpPr>
        <p:spPr>
          <a:xfrm>
            <a:off x="496119" y="1999952"/>
            <a:ext cx="8151900" cy="2096700"/>
          </a:xfrm>
          <a:prstGeom prst="roundRect">
            <a:avLst>
              <a:gd fmla="val 2840" name="adj"/>
            </a:avLst>
          </a:prstGeom>
          <a:solidFill>
            <a:srgbClr val="DFECE9"/>
          </a:solidFill>
          <a:ln cap="flat" cmpd="sng" w="9525">
            <a:solidFill>
              <a:srgbClr val="C5D2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4"/>
          <p:cNvSpPr/>
          <p:nvPr/>
        </p:nvSpPr>
        <p:spPr>
          <a:xfrm>
            <a:off x="500875" y="2004726"/>
            <a:ext cx="4071119" cy="1124540"/>
          </a:xfrm>
          <a:custGeom>
            <a:rect b="b" l="l" r="r" t="t"/>
            <a:pathLst>
              <a:path extrusionOk="0" h="1043657" w="4071119">
                <a:moveTo>
                  <a:pt x="49619" y="0"/>
                </a:moveTo>
                <a:lnTo>
                  <a:pt x="4071119" y="0"/>
                </a:lnTo>
                <a:lnTo>
                  <a:pt x="4071119" y="1043657"/>
                </a:lnTo>
                <a:lnTo>
                  <a:pt x="0" y="1043657"/>
                </a:lnTo>
                <a:lnTo>
                  <a:pt x="0" y="49619"/>
                </a:lnTo>
                <a:cubicBezTo>
                  <a:pt x="0" y="22215"/>
                  <a:pt x="22215" y="0"/>
                  <a:pt x="49619" y="0"/>
                </a:cubicBezTo>
                <a:close/>
              </a:path>
            </a:pathLst>
          </a:custGeom>
          <a:solidFill>
            <a:srgbClr val="DF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4"/>
          <p:cNvSpPr/>
          <p:nvPr/>
        </p:nvSpPr>
        <p:spPr>
          <a:xfrm>
            <a:off x="642634" y="2157637"/>
            <a:ext cx="3787500" cy="2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350"/>
              <a:buFont typeface="Alice"/>
              <a:buNone/>
            </a:pPr>
            <a:r>
              <a:rPr i="0" lang="en-GB" sz="1450" u="sng" cap="none" strike="noStrike">
                <a:solidFill>
                  <a:srgbClr val="2C324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Verified Data</a:t>
            </a:r>
            <a:endParaRPr i="0" sz="145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" name="Google Shape;242;p24"/>
          <p:cNvSpPr/>
          <p:nvPr/>
        </p:nvSpPr>
        <p:spPr>
          <a:xfrm>
            <a:off x="642640" y="2452985"/>
            <a:ext cx="37875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00"/>
              <a:buFont typeface="Noto Sans HK"/>
              <a:buNone/>
            </a:pPr>
            <a:r>
              <a:rPr i="0" lang="en-GB" sz="1300" u="none" cap="none" strike="noStrike">
                <a:solidFill>
                  <a:srgbClr val="2C3249"/>
                </a:solidFill>
              </a:rPr>
              <a:t>Grounded in verified Government of India data from ASI, Ministry of Tourism, and Ministry of Culture.</a:t>
            </a:r>
            <a:endParaRPr i="0" sz="1300" u="none" cap="none" strike="noStrike">
              <a:solidFill>
                <a:srgbClr val="000000"/>
              </a:solidFill>
            </a:endParaRPr>
          </a:p>
        </p:txBody>
      </p:sp>
      <p:sp>
        <p:nvSpPr>
          <p:cNvPr id="243" name="Google Shape;243;p24"/>
          <p:cNvSpPr/>
          <p:nvPr/>
        </p:nvSpPr>
        <p:spPr>
          <a:xfrm>
            <a:off x="4572000" y="2004725"/>
            <a:ext cx="4071119" cy="1124540"/>
          </a:xfrm>
          <a:custGeom>
            <a:rect b="b" l="l" r="r" t="t"/>
            <a:pathLst>
              <a:path extrusionOk="0" h="1043657" w="4071119">
                <a:moveTo>
                  <a:pt x="0" y="0"/>
                </a:moveTo>
                <a:lnTo>
                  <a:pt x="4021500" y="0"/>
                </a:lnTo>
                <a:cubicBezTo>
                  <a:pt x="4034660" y="0"/>
                  <a:pt x="4047281" y="5228"/>
                  <a:pt x="4056586" y="14533"/>
                </a:cubicBezTo>
                <a:cubicBezTo>
                  <a:pt x="4065891" y="23838"/>
                  <a:pt x="4071119" y="36459"/>
                  <a:pt x="4071119" y="49619"/>
                </a:cubicBezTo>
                <a:lnTo>
                  <a:pt x="4071119" y="1043657"/>
                </a:lnTo>
                <a:lnTo>
                  <a:pt x="0" y="1043657"/>
                </a:lnTo>
                <a:lnTo>
                  <a:pt x="0" y="0"/>
                </a:lnTo>
                <a:close/>
              </a:path>
            </a:pathLst>
          </a:custGeom>
          <a:solidFill>
            <a:srgbClr val="DF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24"/>
          <p:cNvSpPr/>
          <p:nvPr/>
        </p:nvSpPr>
        <p:spPr>
          <a:xfrm>
            <a:off x="4572000" y="2004715"/>
            <a:ext cx="19200" cy="1043700"/>
          </a:xfrm>
          <a:prstGeom prst="roundRect">
            <a:avLst>
              <a:gd fmla="val 50000" name="adj"/>
            </a:avLst>
          </a:prstGeom>
          <a:solidFill>
            <a:srgbClr val="C5D2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24"/>
          <p:cNvSpPr/>
          <p:nvPr/>
        </p:nvSpPr>
        <p:spPr>
          <a:xfrm>
            <a:off x="4713759" y="2146474"/>
            <a:ext cx="37875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350"/>
              <a:buFont typeface="Alice"/>
              <a:buNone/>
            </a:pPr>
            <a:r>
              <a:rPr i="0" lang="en-GB" sz="1450" u="sng" cap="none" strike="noStrike">
                <a:solidFill>
                  <a:srgbClr val="2C324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Galaxy Schema</a:t>
            </a:r>
            <a:endParaRPr i="0" sz="145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" name="Google Shape;246;p24"/>
          <p:cNvSpPr/>
          <p:nvPr/>
        </p:nvSpPr>
        <p:spPr>
          <a:xfrm>
            <a:off x="4713759" y="2452985"/>
            <a:ext cx="37875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00"/>
              <a:buFont typeface="Noto Sans HK"/>
              <a:buNone/>
            </a:pPr>
            <a:r>
              <a:rPr i="0" lang="en-GB" sz="1300" u="none" cap="none" strike="noStrike">
                <a:solidFill>
                  <a:srgbClr val="2C3249"/>
                </a:solidFill>
              </a:rPr>
              <a:t>Galaxy schema connects monument visits and festival participation through shared dimension tables.</a:t>
            </a:r>
            <a:endParaRPr i="0" sz="1300" u="none" cap="none" strike="noStrike">
              <a:solidFill>
                <a:srgbClr val="000000"/>
              </a:solidFill>
            </a:endParaRPr>
          </a:p>
        </p:txBody>
      </p:sp>
      <p:sp>
        <p:nvSpPr>
          <p:cNvPr id="247" name="Google Shape;247;p24"/>
          <p:cNvSpPr/>
          <p:nvPr/>
        </p:nvSpPr>
        <p:spPr>
          <a:xfrm>
            <a:off x="500875" y="3130498"/>
            <a:ext cx="4071119" cy="965383"/>
          </a:xfrm>
          <a:custGeom>
            <a:rect b="b" l="l" r="r" t="t"/>
            <a:pathLst>
              <a:path extrusionOk="0" h="1043657" w="4071119">
                <a:moveTo>
                  <a:pt x="0" y="0"/>
                </a:moveTo>
                <a:lnTo>
                  <a:pt x="4071119" y="0"/>
                </a:lnTo>
                <a:lnTo>
                  <a:pt x="4071119" y="1043657"/>
                </a:lnTo>
                <a:lnTo>
                  <a:pt x="49619" y="1043657"/>
                </a:lnTo>
                <a:cubicBezTo>
                  <a:pt x="22215" y="1043657"/>
                  <a:pt x="0" y="1021442"/>
                  <a:pt x="0" y="994038"/>
                </a:cubicBezTo>
                <a:lnTo>
                  <a:pt x="0" y="0"/>
                </a:lnTo>
                <a:close/>
              </a:path>
            </a:pathLst>
          </a:custGeom>
          <a:solidFill>
            <a:srgbClr val="DF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4"/>
          <p:cNvSpPr/>
          <p:nvPr/>
        </p:nvSpPr>
        <p:spPr>
          <a:xfrm>
            <a:off x="500881" y="3048372"/>
            <a:ext cx="4071000" cy="19200"/>
          </a:xfrm>
          <a:prstGeom prst="roundRect">
            <a:avLst>
              <a:gd fmla="val 50000" name="adj"/>
            </a:avLst>
          </a:prstGeom>
          <a:solidFill>
            <a:srgbClr val="C5D2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4"/>
          <p:cNvSpPr/>
          <p:nvPr/>
        </p:nvSpPr>
        <p:spPr>
          <a:xfrm>
            <a:off x="642640" y="3190131"/>
            <a:ext cx="37875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350"/>
              <a:buFont typeface="Alice"/>
              <a:buNone/>
            </a:pPr>
            <a:r>
              <a:rPr i="0" lang="en-GB" sz="1450" u="sng" cap="none" strike="noStrike">
                <a:solidFill>
                  <a:srgbClr val="2C324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Free &amp; Cross-Platform</a:t>
            </a:r>
            <a:endParaRPr i="0" sz="145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" name="Google Shape;250;p24"/>
          <p:cNvSpPr/>
          <p:nvPr/>
        </p:nvSpPr>
        <p:spPr>
          <a:xfrm>
            <a:off x="642640" y="3496642"/>
            <a:ext cx="37875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00"/>
              <a:buFont typeface="Noto Sans HK"/>
              <a:buNone/>
            </a:pPr>
            <a:r>
              <a:rPr i="0" lang="en-GB" sz="1300" u="none" cap="none" strike="noStrike">
                <a:solidFill>
                  <a:srgbClr val="2C3249"/>
                </a:solidFill>
              </a:rPr>
              <a:t>Built on free, cross-platform tools - Supabase and Power BI - accessible to the entire team.</a:t>
            </a:r>
            <a:endParaRPr i="0" sz="1300" u="none" cap="none" strike="noStrike">
              <a:solidFill>
                <a:srgbClr val="000000"/>
              </a:solidFill>
            </a:endParaRPr>
          </a:p>
        </p:txBody>
      </p:sp>
      <p:sp>
        <p:nvSpPr>
          <p:cNvPr id="251" name="Google Shape;251;p24"/>
          <p:cNvSpPr/>
          <p:nvPr/>
        </p:nvSpPr>
        <p:spPr>
          <a:xfrm>
            <a:off x="4572000" y="3048375"/>
            <a:ext cx="4071119" cy="1043657"/>
          </a:xfrm>
          <a:custGeom>
            <a:rect b="b" l="l" r="r" t="t"/>
            <a:pathLst>
              <a:path extrusionOk="0" h="1043657" w="4071119">
                <a:moveTo>
                  <a:pt x="0" y="0"/>
                </a:moveTo>
                <a:lnTo>
                  <a:pt x="4071119" y="0"/>
                </a:lnTo>
                <a:lnTo>
                  <a:pt x="4071119" y="994039"/>
                </a:lnTo>
                <a:cubicBezTo>
                  <a:pt x="4071119" y="1021443"/>
                  <a:pt x="4048904" y="1043658"/>
                  <a:pt x="4021500" y="1043658"/>
                </a:cubicBezTo>
                <a:lnTo>
                  <a:pt x="0" y="1043657"/>
                </a:lnTo>
                <a:lnTo>
                  <a:pt x="0" y="0"/>
                </a:lnTo>
                <a:close/>
              </a:path>
            </a:pathLst>
          </a:custGeom>
          <a:solidFill>
            <a:srgbClr val="DFEC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4"/>
          <p:cNvSpPr/>
          <p:nvPr/>
        </p:nvSpPr>
        <p:spPr>
          <a:xfrm>
            <a:off x="4572000" y="3048372"/>
            <a:ext cx="19200" cy="1043700"/>
          </a:xfrm>
          <a:prstGeom prst="roundRect">
            <a:avLst>
              <a:gd fmla="val 50000" name="adj"/>
            </a:avLst>
          </a:prstGeom>
          <a:solidFill>
            <a:srgbClr val="C5D2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4"/>
          <p:cNvSpPr/>
          <p:nvPr/>
        </p:nvSpPr>
        <p:spPr>
          <a:xfrm>
            <a:off x="4572000" y="3048372"/>
            <a:ext cx="4071000" cy="19200"/>
          </a:xfrm>
          <a:prstGeom prst="roundRect">
            <a:avLst>
              <a:gd fmla="val 50000" name="adj"/>
            </a:avLst>
          </a:prstGeom>
          <a:solidFill>
            <a:srgbClr val="C5D2C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4"/>
          <p:cNvSpPr/>
          <p:nvPr/>
        </p:nvSpPr>
        <p:spPr>
          <a:xfrm>
            <a:off x="4713759" y="3190131"/>
            <a:ext cx="3787500" cy="2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350"/>
              <a:buFont typeface="Alice"/>
              <a:buNone/>
            </a:pPr>
            <a:r>
              <a:rPr i="0" lang="en-GB" sz="1450" u="sng" cap="none" strike="noStrike">
                <a:solidFill>
                  <a:srgbClr val="2C324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Deployable Use Case</a:t>
            </a:r>
            <a:endParaRPr i="0" sz="145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24"/>
          <p:cNvSpPr/>
          <p:nvPr/>
        </p:nvSpPr>
        <p:spPr>
          <a:xfrm>
            <a:off x="4713759" y="3496642"/>
            <a:ext cx="37875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00"/>
              <a:buFont typeface="Noto Sans HK"/>
              <a:buNone/>
            </a:pPr>
            <a:r>
              <a:rPr i="0" lang="en-GB" sz="1300" u="none" cap="none" strike="noStrike">
                <a:solidFill>
                  <a:srgbClr val="2C3249"/>
                </a:solidFill>
              </a:rPr>
              <a:t>A genuinely deployable use case for state tourism boards and policymakers across India.</a:t>
            </a:r>
            <a:endParaRPr i="0" sz="1300" u="none" cap="none" strike="noStrike">
              <a:solidFill>
                <a:srgbClr val="000000"/>
              </a:solidFill>
            </a:endParaRPr>
          </a:p>
        </p:txBody>
      </p:sp>
      <p:sp>
        <p:nvSpPr>
          <p:cNvPr id="256" name="Google Shape;256;p24"/>
          <p:cNvSpPr/>
          <p:nvPr/>
        </p:nvSpPr>
        <p:spPr>
          <a:xfrm>
            <a:off x="277044" y="4256311"/>
            <a:ext cx="86091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2C3249"/>
              </a:buClr>
              <a:buSzPts val="1100"/>
              <a:buFont typeface="Noto Sans HK"/>
              <a:buNone/>
            </a:pPr>
            <a:r>
              <a:rPr b="0" i="1" lang="en-GB" sz="1100" u="none" cap="none" strike="noStrike">
                <a:solidFill>
                  <a:srgbClr val="2C3249"/>
                </a:solidFill>
                <a:latin typeface="Noto Sans HK"/>
                <a:ea typeface="Noto Sans HK"/>
                <a:cs typeface="Noto Sans HK"/>
                <a:sym typeface="Noto Sans HK"/>
              </a:rPr>
              <a:t>Urban Pulse - Tourism &amp; Culture Intelligence Platform | Infosys Internship Project | Milestone 1</a:t>
            </a:r>
            <a:endParaRPr b="0" i="0" sz="11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